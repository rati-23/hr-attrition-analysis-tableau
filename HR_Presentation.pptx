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18288000" cy="10287000"/>
  <p:notesSz cx="6858000" cy="9144000"/>
  <p:embeddedFontLst>
    <p:embeddedFont>
      <p:font typeface="Open Sauce" charset="1" panose="00000500000000000000"/>
      <p:regular r:id="rId13"/>
    </p:embeddedFont>
    <p:embeddedFont>
      <p:font typeface="Inter Medium" charset="1" panose="02000503000000020004"/>
      <p:regular r:id="rId14"/>
    </p:embeddedFont>
    <p:embeddedFont>
      <p:font typeface="Inter" charset="1" panose="020B0502030000000004"/>
      <p:regular r:id="rId15"/>
    </p:embeddedFont>
    <p:embeddedFont>
      <p:font typeface="Inter Light" charset="1" panose="02000503000000020004"/>
      <p:regular r:id="rId16"/>
    </p:embeddedFont>
    <p:embeddedFont>
      <p:font typeface="Inter Semi-Bold" charset="1" panose="02000503000000020004"/>
      <p:regular r:id="rId17"/>
    </p:embeddedFont>
    <p:embeddedFont>
      <p:font typeface="Inter Bold" charset="1" panose="020B0802030000000004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fonts/font13.fntdata" Type="http://schemas.openxmlformats.org/officeDocument/2006/relationships/font"/><Relationship Id="rId14" Target="fonts/font14.fntdata" Type="http://schemas.openxmlformats.org/officeDocument/2006/relationships/font"/><Relationship Id="rId15" Target="fonts/font15.fntdata" Type="http://schemas.openxmlformats.org/officeDocument/2006/relationships/font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png" Type="http://schemas.openxmlformats.org/officeDocument/2006/relationships/image"/><Relationship Id="rId3" Target="../media/image6.png" Type="http://schemas.openxmlformats.org/officeDocument/2006/relationships/image"/><Relationship Id="rId4" Target="../media/image7.png" Type="http://schemas.openxmlformats.org/officeDocument/2006/relationships/image"/><Relationship Id="rId5" Target="../media/image8.png" Type="http://schemas.openxmlformats.org/officeDocument/2006/relationships/image"/><Relationship Id="rId6" Target="../media/image9.png" Type="http://schemas.openxmlformats.org/officeDocument/2006/relationships/image"/><Relationship Id="rId7" Target="../media/image1.png" Type="http://schemas.openxmlformats.org/officeDocument/2006/relationships/image"/><Relationship Id="rId8" Target="../media/image2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10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gradFill rotWithShape="true">
          <a:gsLst>
            <a:gs pos="0">
              <a:srgbClr val="5C7257">
                <a:alpha val="100000"/>
              </a:srgbClr>
            </a:gs>
            <a:gs pos="50000">
              <a:srgbClr val="2F472C">
                <a:alpha val="100000"/>
              </a:srgbClr>
            </a:gs>
            <a:gs pos="100000">
              <a:srgbClr val="1F371C">
                <a:alpha val="100000"/>
              </a:srgbClr>
            </a:gs>
          </a:gsLst>
          <a:path path="circle">
            <a:fillToRect l="0" r="100000" t="0" b="100000"/>
          </a:path>
          <a:tileRect r="0" l="-100000" b="0" t="-1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flipV="true">
            <a:off x="1028700" y="1973315"/>
            <a:ext cx="16230600" cy="0"/>
          </a:xfrm>
          <a:prstGeom prst="line">
            <a:avLst/>
          </a:prstGeom>
          <a:ln cap="flat" w="1905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" id="3"/>
          <p:cNvGrpSpPr/>
          <p:nvPr/>
        </p:nvGrpSpPr>
        <p:grpSpPr>
          <a:xfrm rot="0">
            <a:off x="2852057" y="3081497"/>
            <a:ext cx="13014588" cy="4270343"/>
            <a:chOff x="0" y="0"/>
            <a:chExt cx="3427710" cy="1124699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427711" cy="1124699"/>
            </a:xfrm>
            <a:custGeom>
              <a:avLst/>
              <a:gdLst/>
              <a:ahLst/>
              <a:cxnLst/>
              <a:rect r="r" b="b" t="t" l="l"/>
              <a:pathLst>
                <a:path h="1124699" w="3427711">
                  <a:moveTo>
                    <a:pt x="35692" y="0"/>
                  </a:moveTo>
                  <a:lnTo>
                    <a:pt x="3392019" y="0"/>
                  </a:lnTo>
                  <a:cubicBezTo>
                    <a:pt x="3411731" y="0"/>
                    <a:pt x="3427711" y="15980"/>
                    <a:pt x="3427711" y="35692"/>
                  </a:cubicBezTo>
                  <a:lnTo>
                    <a:pt x="3427711" y="1089008"/>
                  </a:lnTo>
                  <a:cubicBezTo>
                    <a:pt x="3427711" y="1108720"/>
                    <a:pt x="3411731" y="1124699"/>
                    <a:pt x="3392019" y="1124699"/>
                  </a:cubicBezTo>
                  <a:lnTo>
                    <a:pt x="35692" y="1124699"/>
                  </a:lnTo>
                  <a:cubicBezTo>
                    <a:pt x="15980" y="1124699"/>
                    <a:pt x="0" y="1108720"/>
                    <a:pt x="0" y="1089008"/>
                  </a:cubicBezTo>
                  <a:lnTo>
                    <a:pt x="0" y="35692"/>
                  </a:lnTo>
                  <a:cubicBezTo>
                    <a:pt x="0" y="15980"/>
                    <a:pt x="15980" y="0"/>
                    <a:pt x="35692" y="0"/>
                  </a:cubicBezTo>
                  <a:close/>
                </a:path>
              </a:pathLst>
            </a:custGeom>
            <a:gradFill rotWithShape="true">
              <a:gsLst>
                <a:gs pos="0">
                  <a:srgbClr val="A3B18A">
                    <a:alpha val="4000"/>
                  </a:srgbClr>
                </a:gs>
                <a:gs pos="100000">
                  <a:srgbClr val="F4F1ED">
                    <a:alpha val="31600"/>
                  </a:srgbClr>
                </a:gs>
              </a:gsLst>
              <a:lin ang="2700000"/>
            </a:gradFill>
            <a:ln w="38100" cap="rnd">
              <a:gradFill>
                <a:gsLst>
                  <a:gs pos="0">
                    <a:srgbClr val="FFFFFF">
                      <a:alpha val="80000"/>
                    </a:srgbClr>
                  </a:gs>
                  <a:gs pos="25000">
                    <a:srgbClr val="9B9A9A">
                      <a:alpha val="80000"/>
                    </a:srgbClr>
                  </a:gs>
                  <a:gs pos="50000">
                    <a:srgbClr val="FFFFFF">
                      <a:alpha val="80000"/>
                    </a:srgbClr>
                  </a:gs>
                  <a:gs pos="75000">
                    <a:srgbClr val="9C9B9B">
                      <a:alpha val="80000"/>
                    </a:srgbClr>
                  </a:gs>
                  <a:gs pos="100000">
                    <a:srgbClr val="FFFFFF">
                      <a:alpha val="8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0" y="-104775"/>
              <a:ext cx="3427710" cy="122947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528"/>
                </a:lnSpc>
                <a:spcBef>
                  <a:spcPct val="0"/>
                </a:spcBef>
              </a:pPr>
            </a:p>
          </p:txBody>
        </p:sp>
      </p:grpSp>
      <p:sp>
        <p:nvSpPr>
          <p:cNvPr name="AutoShape 6" id="6"/>
          <p:cNvSpPr/>
          <p:nvPr/>
        </p:nvSpPr>
        <p:spPr>
          <a:xfrm>
            <a:off x="1028700" y="8460022"/>
            <a:ext cx="16230600" cy="0"/>
          </a:xfrm>
          <a:prstGeom prst="line">
            <a:avLst/>
          </a:prstGeom>
          <a:ln cap="flat" w="1905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7" id="7"/>
          <p:cNvSpPr/>
          <p:nvPr/>
        </p:nvSpPr>
        <p:spPr>
          <a:xfrm flipV="true">
            <a:off x="1028700" y="9326883"/>
            <a:ext cx="16230600" cy="0"/>
          </a:xfrm>
          <a:prstGeom prst="line">
            <a:avLst/>
          </a:prstGeom>
          <a:ln cap="flat" w="1905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" id="8"/>
          <p:cNvSpPr/>
          <p:nvPr/>
        </p:nvSpPr>
        <p:spPr>
          <a:xfrm flipH="true" flipV="true">
            <a:off x="4244712" y="8460022"/>
            <a:ext cx="0" cy="866861"/>
          </a:xfrm>
          <a:prstGeom prst="line">
            <a:avLst/>
          </a:prstGeom>
          <a:ln cap="flat" w="1905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9" id="9"/>
          <p:cNvSpPr/>
          <p:nvPr/>
        </p:nvSpPr>
        <p:spPr>
          <a:xfrm flipH="true" flipV="true">
            <a:off x="13344441" y="8460022"/>
            <a:ext cx="0" cy="866861"/>
          </a:xfrm>
          <a:prstGeom prst="line">
            <a:avLst/>
          </a:prstGeom>
          <a:ln cap="flat" w="1905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0" id="10"/>
          <p:cNvSpPr txBox="true"/>
          <p:nvPr/>
        </p:nvSpPr>
        <p:spPr>
          <a:xfrm rot="0">
            <a:off x="3543801" y="3482160"/>
            <a:ext cx="11758501" cy="35452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240"/>
              </a:lnSpc>
            </a:pPr>
            <a:r>
              <a:rPr lang="en-US" sz="8400" spc="-294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Qu</a:t>
            </a:r>
            <a:r>
              <a:rPr lang="en-US" sz="8400" spc="-294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antitative Analysis of Employee Attrition Using Tableau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28700" y="969642"/>
            <a:ext cx="3225537" cy="3140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452"/>
              </a:lnSpc>
              <a:spcBef>
                <a:spcPct val="0"/>
              </a:spcBef>
            </a:pPr>
            <a:r>
              <a:rPr lang="en-US" b="true" sz="2229" spc="66" strike="noStrike" u="none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PRESENTED BY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28700" y="1340855"/>
            <a:ext cx="3225537" cy="356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940"/>
              </a:lnSpc>
            </a:pPr>
            <a:r>
              <a:rPr lang="en-US" sz="21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Rati Srivastava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3727055" y="8745772"/>
            <a:ext cx="3532245" cy="3126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452"/>
              </a:lnSpc>
              <a:spcBef>
                <a:spcPct val="0"/>
              </a:spcBef>
            </a:pPr>
            <a:r>
              <a:rPr lang="en-US" b="true" sz="2229" spc="66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237 ATTRITIONS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028700" y="8746669"/>
            <a:ext cx="3229772" cy="3126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452"/>
              </a:lnSpc>
              <a:spcBef>
                <a:spcPct val="0"/>
              </a:spcBef>
            </a:pPr>
            <a:r>
              <a:rPr lang="en-US" b="true" sz="2229" spc="66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1,470 EMPLOYEES</a:t>
            </a:r>
          </a:p>
        </p:txBody>
      </p:sp>
      <p:sp>
        <p:nvSpPr>
          <p:cNvPr name="AutoShape 15" id="15"/>
          <p:cNvSpPr/>
          <p:nvPr/>
        </p:nvSpPr>
        <p:spPr>
          <a:xfrm>
            <a:off x="636814" y="945525"/>
            <a:ext cx="16230600" cy="0"/>
          </a:xfrm>
          <a:prstGeom prst="line">
            <a:avLst/>
          </a:prstGeom>
          <a:ln cap="flat" w="1905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6" id="16"/>
          <p:cNvSpPr/>
          <p:nvPr/>
        </p:nvSpPr>
        <p:spPr>
          <a:xfrm flipV="true">
            <a:off x="636814" y="1812385"/>
            <a:ext cx="16230600" cy="0"/>
          </a:xfrm>
          <a:prstGeom prst="line">
            <a:avLst/>
          </a:prstGeom>
          <a:ln cap="flat" w="1905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7" id="17"/>
          <p:cNvSpPr/>
          <p:nvPr/>
        </p:nvSpPr>
        <p:spPr>
          <a:xfrm flipH="true" flipV="true">
            <a:off x="3852826" y="945525"/>
            <a:ext cx="0" cy="866861"/>
          </a:xfrm>
          <a:prstGeom prst="line">
            <a:avLst/>
          </a:prstGeom>
          <a:ln cap="flat" w="1905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18" id="18"/>
          <p:cNvSpPr/>
          <p:nvPr/>
        </p:nvSpPr>
        <p:spPr>
          <a:xfrm flipH="true" flipV="true">
            <a:off x="13651403" y="945525"/>
            <a:ext cx="0" cy="866861"/>
          </a:xfrm>
          <a:prstGeom prst="line">
            <a:avLst/>
          </a:prstGeom>
          <a:ln cap="flat" w="1905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19" id="19"/>
          <p:cNvSpPr txBox="true"/>
          <p:nvPr/>
        </p:nvSpPr>
        <p:spPr>
          <a:xfrm rot="0">
            <a:off x="4169313" y="1232171"/>
            <a:ext cx="9165603" cy="3126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452"/>
              </a:lnSpc>
              <a:spcBef>
                <a:spcPct val="0"/>
              </a:spcBef>
            </a:pPr>
            <a:r>
              <a:rPr lang="en-US" b="true" sz="2229" spc="66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DATA VISULAISATION EXXPLORATORY COURSE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3637642" y="1232171"/>
            <a:ext cx="3229772" cy="3126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452"/>
              </a:lnSpc>
              <a:spcBef>
                <a:spcPct val="0"/>
              </a:spcBef>
            </a:pPr>
            <a:r>
              <a:rPr lang="en-US" b="true" sz="2229" spc="66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R290222056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6433251" y="8745772"/>
            <a:ext cx="4160980" cy="31261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452"/>
              </a:lnSpc>
              <a:spcBef>
                <a:spcPct val="0"/>
              </a:spcBef>
            </a:pPr>
            <a:r>
              <a:rPr lang="en-US" b="true" sz="2229" spc="66">
                <a:solidFill>
                  <a:srgbClr val="FFFFFF"/>
                </a:solidFill>
                <a:latin typeface="Inter Medium"/>
                <a:ea typeface="Inter Medium"/>
                <a:cs typeface="Inter Medium"/>
                <a:sym typeface="Inter Medium"/>
              </a:rPr>
              <a:t>~16% ATTRITION RATE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5C7257">
                <a:alpha val="100000"/>
              </a:srgbClr>
            </a:gs>
            <a:gs pos="50000">
              <a:srgbClr val="2F472C">
                <a:alpha val="100000"/>
              </a:srgbClr>
            </a:gs>
            <a:gs pos="100000">
              <a:srgbClr val="1F371C">
                <a:alpha val="100000"/>
              </a:srgbClr>
            </a:gs>
          </a:gsLst>
          <a:path path="circle">
            <a:fillToRect l="0" r="100000" t="0" b="100000"/>
          </a:path>
          <a:tileRect r="0" l="-100000" b="0" t="-1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2125280"/>
            <a:ext cx="16230600" cy="990780"/>
            <a:chOff x="0" y="0"/>
            <a:chExt cx="21640800" cy="1321040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0"/>
              <a:ext cx="21640800" cy="1321040"/>
              <a:chOff x="0" y="0"/>
              <a:chExt cx="4274726" cy="260946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274726" cy="260946"/>
              </a:xfrm>
              <a:custGeom>
                <a:avLst/>
                <a:gdLst/>
                <a:ahLst/>
                <a:cxnLst/>
                <a:rect r="r" b="b" t="t" l="l"/>
                <a:pathLst>
                  <a:path h="260946" w="4274726">
                    <a:moveTo>
                      <a:pt x="28620" y="0"/>
                    </a:moveTo>
                    <a:lnTo>
                      <a:pt x="4246106" y="0"/>
                    </a:lnTo>
                    <a:cubicBezTo>
                      <a:pt x="4261912" y="0"/>
                      <a:pt x="4274726" y="12813"/>
                      <a:pt x="4274726" y="28620"/>
                    </a:cubicBezTo>
                    <a:lnTo>
                      <a:pt x="4274726" y="232326"/>
                    </a:lnTo>
                    <a:cubicBezTo>
                      <a:pt x="4274726" y="248133"/>
                      <a:pt x="4261912" y="260946"/>
                      <a:pt x="4246106" y="260946"/>
                    </a:cubicBezTo>
                    <a:lnTo>
                      <a:pt x="28620" y="260946"/>
                    </a:lnTo>
                    <a:cubicBezTo>
                      <a:pt x="12813" y="260946"/>
                      <a:pt x="0" y="248133"/>
                      <a:pt x="0" y="232326"/>
                    </a:cubicBezTo>
                    <a:lnTo>
                      <a:pt x="0" y="28620"/>
                    </a:lnTo>
                    <a:cubicBezTo>
                      <a:pt x="0" y="12813"/>
                      <a:pt x="12813" y="0"/>
                      <a:pt x="28620" y="0"/>
                    </a:cubicBezTo>
                    <a:close/>
                  </a:path>
                </a:pathLst>
              </a:custGeom>
              <a:gradFill rotWithShape="true">
                <a:gsLst>
                  <a:gs pos="0">
                    <a:srgbClr val="A3B18A">
                      <a:alpha val="4000"/>
                    </a:srgbClr>
                  </a:gs>
                  <a:gs pos="100000">
                    <a:srgbClr val="F4F1ED">
                      <a:alpha val="31600"/>
                    </a:srgbClr>
                  </a:gs>
                </a:gsLst>
                <a:lin ang="2700000"/>
              </a:gradFill>
              <a:ln w="38100" cap="rnd">
                <a:gradFill>
                  <a:gsLst>
                    <a:gs pos="0">
                      <a:srgbClr val="FFFFFF">
                        <a:alpha val="80000"/>
                      </a:srgbClr>
                    </a:gs>
                    <a:gs pos="25000">
                      <a:srgbClr val="9B9A9A">
                        <a:alpha val="80000"/>
                      </a:srgbClr>
                    </a:gs>
                    <a:gs pos="50000">
                      <a:srgbClr val="FFFFFF">
                        <a:alpha val="80000"/>
                      </a:srgbClr>
                    </a:gs>
                    <a:gs pos="75000">
                      <a:srgbClr val="9C9B9B">
                        <a:alpha val="80000"/>
                      </a:srgbClr>
                    </a:gs>
                    <a:gs pos="100000">
                      <a:srgbClr val="FFFFFF">
                        <a:alpha val="80000"/>
                      </a:srgbClr>
                    </a:gs>
                  </a:gsLst>
                  <a:lin ang="2700000"/>
                </a:gradFill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104775"/>
                <a:ext cx="4274726" cy="365721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3528"/>
                  </a:lnSpc>
                  <a:spcBef>
                    <a:spcPct val="0"/>
                  </a:spcBef>
                </a:pPr>
              </a:p>
            </p:txBody>
          </p:sp>
        </p:grpSp>
        <p:sp>
          <p:nvSpPr>
            <p:cNvPr name="TextBox 6" id="6"/>
            <p:cNvSpPr txBox="true"/>
            <p:nvPr/>
          </p:nvSpPr>
          <p:spPr>
            <a:xfrm rot="0">
              <a:off x="519379" y="128813"/>
              <a:ext cx="20602042" cy="102531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just" marL="0" indent="0" lvl="0">
                <a:lnSpc>
                  <a:spcPts val="3079"/>
                </a:lnSpc>
                <a:spcBef>
                  <a:spcPct val="0"/>
                </a:spcBef>
              </a:pPr>
              <a:r>
                <a:rPr lang="en-US" sz="2199">
                  <a:solidFill>
                    <a:srgbClr val="FFFFFF"/>
                  </a:solidFill>
                  <a:latin typeface="Inter Light"/>
                  <a:ea typeface="Inter Light"/>
                  <a:cs typeface="Inter Light"/>
                  <a:sym typeface="Inter Light"/>
                </a:rPr>
                <a:t>Employ</a:t>
              </a:r>
              <a:r>
                <a:rPr lang="en-US" sz="2199" strike="noStrike" u="none">
                  <a:solidFill>
                    <a:srgbClr val="FFFFFF"/>
                  </a:solidFill>
                  <a:latin typeface="Inter Light"/>
                  <a:ea typeface="Inter Light"/>
                  <a:cs typeface="Inter Light"/>
                  <a:sym typeface="Inter Light"/>
                </a:rPr>
                <a:t>ee attrition is a measurable indicator of organizational health, affecting productivity, operational continuity, and cost efficiency. At moderate levels, it reflects underlying systemic inefficiencies rather than isolated employee exits.</a:t>
              </a: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028700" y="3497060"/>
            <a:ext cx="5279943" cy="5839348"/>
            <a:chOff x="0" y="0"/>
            <a:chExt cx="1390602" cy="1537935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1390602" cy="1537935"/>
            </a:xfrm>
            <a:custGeom>
              <a:avLst/>
              <a:gdLst/>
              <a:ahLst/>
              <a:cxnLst/>
              <a:rect r="r" b="b" t="t" l="l"/>
              <a:pathLst>
                <a:path h="1537935" w="1390602">
                  <a:moveTo>
                    <a:pt x="87977" y="0"/>
                  </a:moveTo>
                  <a:lnTo>
                    <a:pt x="1302625" y="0"/>
                  </a:lnTo>
                  <a:cubicBezTo>
                    <a:pt x="1325958" y="0"/>
                    <a:pt x="1348335" y="9269"/>
                    <a:pt x="1364834" y="25768"/>
                  </a:cubicBezTo>
                  <a:cubicBezTo>
                    <a:pt x="1381333" y="42267"/>
                    <a:pt x="1390602" y="64644"/>
                    <a:pt x="1390602" y="87977"/>
                  </a:cubicBezTo>
                  <a:lnTo>
                    <a:pt x="1390602" y="1449958"/>
                  </a:lnTo>
                  <a:cubicBezTo>
                    <a:pt x="1390602" y="1473291"/>
                    <a:pt x="1381333" y="1495668"/>
                    <a:pt x="1364834" y="1512167"/>
                  </a:cubicBezTo>
                  <a:cubicBezTo>
                    <a:pt x="1348335" y="1528666"/>
                    <a:pt x="1325958" y="1537935"/>
                    <a:pt x="1302625" y="1537935"/>
                  </a:cubicBezTo>
                  <a:lnTo>
                    <a:pt x="87977" y="1537935"/>
                  </a:lnTo>
                  <a:cubicBezTo>
                    <a:pt x="64644" y="1537935"/>
                    <a:pt x="42267" y="1528666"/>
                    <a:pt x="25768" y="1512167"/>
                  </a:cubicBezTo>
                  <a:cubicBezTo>
                    <a:pt x="9269" y="1495668"/>
                    <a:pt x="0" y="1473291"/>
                    <a:pt x="0" y="1449958"/>
                  </a:cubicBezTo>
                  <a:lnTo>
                    <a:pt x="0" y="87977"/>
                  </a:lnTo>
                  <a:cubicBezTo>
                    <a:pt x="0" y="64644"/>
                    <a:pt x="9269" y="42267"/>
                    <a:pt x="25768" y="25768"/>
                  </a:cubicBezTo>
                  <a:cubicBezTo>
                    <a:pt x="42267" y="9269"/>
                    <a:pt x="64644" y="0"/>
                    <a:pt x="87977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FFFFFF">
                      <a:alpha val="80000"/>
                    </a:srgbClr>
                  </a:gs>
                  <a:gs pos="25000">
                    <a:srgbClr val="9B9A9A">
                      <a:alpha val="80000"/>
                    </a:srgbClr>
                  </a:gs>
                  <a:gs pos="50000">
                    <a:srgbClr val="FFFFFF">
                      <a:alpha val="80000"/>
                    </a:srgbClr>
                  </a:gs>
                  <a:gs pos="75000">
                    <a:srgbClr val="9C9B9B">
                      <a:alpha val="80000"/>
                    </a:srgbClr>
                  </a:gs>
                  <a:gs pos="100000">
                    <a:srgbClr val="FFFFFF">
                      <a:alpha val="8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0" y="-104775"/>
              <a:ext cx="1390602" cy="164271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528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90373" y="3914984"/>
            <a:ext cx="4756597" cy="926045"/>
            <a:chOff x="0" y="0"/>
            <a:chExt cx="6342130" cy="1234726"/>
          </a:xfrm>
        </p:grpSpPr>
        <p:grpSp>
          <p:nvGrpSpPr>
            <p:cNvPr name="Group 11" id="11"/>
            <p:cNvGrpSpPr/>
            <p:nvPr/>
          </p:nvGrpSpPr>
          <p:grpSpPr>
            <a:xfrm rot="0">
              <a:off x="0" y="0"/>
              <a:ext cx="6342130" cy="1234726"/>
              <a:chOff x="0" y="0"/>
              <a:chExt cx="1252766" cy="243897"/>
            </a:xfrm>
          </p:grpSpPr>
          <p:sp>
            <p:nvSpPr>
              <p:cNvPr name="Freeform 12" id="12"/>
              <p:cNvSpPr/>
              <p:nvPr/>
            </p:nvSpPr>
            <p:spPr>
              <a:xfrm flipH="false" flipV="false" rot="0">
                <a:off x="0" y="0"/>
                <a:ext cx="1252766" cy="243897"/>
              </a:xfrm>
              <a:custGeom>
                <a:avLst/>
                <a:gdLst/>
                <a:ahLst/>
                <a:cxnLst/>
                <a:rect r="r" b="b" t="t" l="l"/>
                <a:pathLst>
                  <a:path h="243897" w="1252766">
                    <a:moveTo>
                      <a:pt x="56967" y="0"/>
                    </a:moveTo>
                    <a:lnTo>
                      <a:pt x="1195800" y="0"/>
                    </a:lnTo>
                    <a:cubicBezTo>
                      <a:pt x="1227262" y="0"/>
                      <a:pt x="1252766" y="25505"/>
                      <a:pt x="1252766" y="56967"/>
                    </a:cubicBezTo>
                    <a:lnTo>
                      <a:pt x="1252766" y="186930"/>
                    </a:lnTo>
                    <a:cubicBezTo>
                      <a:pt x="1252766" y="218392"/>
                      <a:pt x="1227262" y="243897"/>
                      <a:pt x="1195800" y="243897"/>
                    </a:cubicBezTo>
                    <a:lnTo>
                      <a:pt x="56967" y="243897"/>
                    </a:lnTo>
                    <a:cubicBezTo>
                      <a:pt x="25505" y="243897"/>
                      <a:pt x="0" y="218392"/>
                      <a:pt x="0" y="186930"/>
                    </a:cubicBezTo>
                    <a:lnTo>
                      <a:pt x="0" y="56967"/>
                    </a:lnTo>
                    <a:cubicBezTo>
                      <a:pt x="0" y="25505"/>
                      <a:pt x="25505" y="0"/>
                      <a:pt x="56967" y="0"/>
                    </a:cubicBezTo>
                    <a:close/>
                  </a:path>
                </a:pathLst>
              </a:custGeom>
              <a:gradFill rotWithShape="true">
                <a:gsLst>
                  <a:gs pos="0">
                    <a:srgbClr val="A3B18A">
                      <a:alpha val="4000"/>
                    </a:srgbClr>
                  </a:gs>
                  <a:gs pos="100000">
                    <a:srgbClr val="F4F1ED">
                      <a:alpha val="31600"/>
                    </a:srgbClr>
                  </a:gs>
                </a:gsLst>
                <a:lin ang="2700000"/>
              </a:gradFill>
              <a:ln w="38100" cap="rnd">
                <a:gradFill>
                  <a:gsLst>
                    <a:gs pos="0">
                      <a:srgbClr val="FFFFFF">
                        <a:alpha val="80000"/>
                      </a:srgbClr>
                    </a:gs>
                    <a:gs pos="25000">
                      <a:srgbClr val="9B9A9A">
                        <a:alpha val="80000"/>
                      </a:srgbClr>
                    </a:gs>
                    <a:gs pos="50000">
                      <a:srgbClr val="FFFFFF">
                        <a:alpha val="80000"/>
                      </a:srgbClr>
                    </a:gs>
                    <a:gs pos="75000">
                      <a:srgbClr val="9C9B9B">
                        <a:alpha val="80000"/>
                      </a:srgbClr>
                    </a:gs>
                    <a:gs pos="100000">
                      <a:srgbClr val="FFFFFF">
                        <a:alpha val="80000"/>
                      </a:srgbClr>
                    </a:gs>
                  </a:gsLst>
                  <a:lin ang="2700000"/>
                </a:gradFill>
                <a:prstDash val="solid"/>
                <a:round/>
              </a:ln>
            </p:spPr>
          </p:sp>
          <p:sp>
            <p:nvSpPr>
              <p:cNvPr name="TextBox 13" id="13"/>
              <p:cNvSpPr txBox="true"/>
              <p:nvPr/>
            </p:nvSpPr>
            <p:spPr>
              <a:xfrm>
                <a:off x="0" y="-104775"/>
                <a:ext cx="1252766" cy="34867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3528"/>
                  </a:lnSpc>
                  <a:spcBef>
                    <a:spcPct val="0"/>
                  </a:spcBef>
                </a:pPr>
              </a:p>
            </p:txBody>
          </p:sp>
        </p:grpSp>
        <p:sp>
          <p:nvSpPr>
            <p:cNvPr name="Freeform 14" id="14"/>
            <p:cNvSpPr/>
            <p:nvPr/>
          </p:nvSpPr>
          <p:spPr>
            <a:xfrm flipH="false" flipV="false" rot="0">
              <a:off x="318129" y="387345"/>
              <a:ext cx="409286" cy="460037"/>
            </a:xfrm>
            <a:custGeom>
              <a:avLst/>
              <a:gdLst/>
              <a:ahLst/>
              <a:cxnLst/>
              <a:rect r="r" b="b" t="t" l="l"/>
              <a:pathLst>
                <a:path h="460037" w="409286">
                  <a:moveTo>
                    <a:pt x="0" y="0"/>
                  </a:moveTo>
                  <a:lnTo>
                    <a:pt x="409285" y="0"/>
                  </a:lnTo>
                  <a:lnTo>
                    <a:pt x="409285" y="460037"/>
                  </a:lnTo>
                  <a:lnTo>
                    <a:pt x="0" y="4600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15" id="15"/>
            <p:cNvSpPr txBox="true"/>
            <p:nvPr/>
          </p:nvSpPr>
          <p:spPr>
            <a:xfrm rot="0">
              <a:off x="981414" y="382625"/>
              <a:ext cx="5093764" cy="49805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859"/>
                </a:lnSpc>
              </a:pPr>
              <a:r>
                <a:rPr lang="en-US" sz="2599" b="true">
                  <a:solidFill>
                    <a:srgbClr val="FFFFFF"/>
                  </a:solidFill>
                  <a:latin typeface="Inter Semi-Bold"/>
                  <a:ea typeface="Inter Semi-Bold"/>
                  <a:cs typeface="Inter Semi-Bold"/>
                  <a:sym typeface="Inter Semi-Bold"/>
                </a:rPr>
                <a:t>Problem:</a:t>
              </a: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1969092" y="3497060"/>
            <a:ext cx="5290208" cy="5839348"/>
            <a:chOff x="0" y="0"/>
            <a:chExt cx="1393306" cy="1537935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393306" cy="1537935"/>
            </a:xfrm>
            <a:custGeom>
              <a:avLst/>
              <a:gdLst/>
              <a:ahLst/>
              <a:cxnLst/>
              <a:rect r="r" b="b" t="t" l="l"/>
              <a:pathLst>
                <a:path h="1537935" w="1393306">
                  <a:moveTo>
                    <a:pt x="87807" y="0"/>
                  </a:moveTo>
                  <a:lnTo>
                    <a:pt x="1305499" y="0"/>
                  </a:lnTo>
                  <a:cubicBezTo>
                    <a:pt x="1353994" y="0"/>
                    <a:pt x="1393306" y="39312"/>
                    <a:pt x="1393306" y="87807"/>
                  </a:cubicBezTo>
                  <a:lnTo>
                    <a:pt x="1393306" y="1450129"/>
                  </a:lnTo>
                  <a:cubicBezTo>
                    <a:pt x="1393306" y="1473416"/>
                    <a:pt x="1384055" y="1495750"/>
                    <a:pt x="1367588" y="1512217"/>
                  </a:cubicBezTo>
                  <a:cubicBezTo>
                    <a:pt x="1351121" y="1528684"/>
                    <a:pt x="1328787" y="1537935"/>
                    <a:pt x="1305499" y="1537935"/>
                  </a:cubicBezTo>
                  <a:lnTo>
                    <a:pt x="87807" y="1537935"/>
                  </a:lnTo>
                  <a:cubicBezTo>
                    <a:pt x="64519" y="1537935"/>
                    <a:pt x="42185" y="1528684"/>
                    <a:pt x="25718" y="1512217"/>
                  </a:cubicBezTo>
                  <a:cubicBezTo>
                    <a:pt x="9251" y="1495750"/>
                    <a:pt x="0" y="1473416"/>
                    <a:pt x="0" y="1450129"/>
                  </a:cubicBezTo>
                  <a:lnTo>
                    <a:pt x="0" y="87807"/>
                  </a:lnTo>
                  <a:cubicBezTo>
                    <a:pt x="0" y="64519"/>
                    <a:pt x="9251" y="42185"/>
                    <a:pt x="25718" y="25718"/>
                  </a:cubicBezTo>
                  <a:cubicBezTo>
                    <a:pt x="42185" y="9251"/>
                    <a:pt x="64519" y="0"/>
                    <a:pt x="87807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FFFFFF">
                      <a:alpha val="80000"/>
                    </a:srgbClr>
                  </a:gs>
                  <a:gs pos="25000">
                    <a:srgbClr val="9B9A9A">
                      <a:alpha val="80000"/>
                    </a:srgbClr>
                  </a:gs>
                  <a:gs pos="50000">
                    <a:srgbClr val="FFFFFF">
                      <a:alpha val="80000"/>
                    </a:srgbClr>
                  </a:gs>
                  <a:gs pos="75000">
                    <a:srgbClr val="9C9B9B">
                      <a:alpha val="80000"/>
                    </a:srgbClr>
                  </a:gs>
                  <a:gs pos="100000">
                    <a:srgbClr val="FFFFFF">
                      <a:alpha val="8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0" y="-104775"/>
              <a:ext cx="1393306" cy="164271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528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2216706" y="3914984"/>
            <a:ext cx="4794980" cy="926045"/>
            <a:chOff x="0" y="0"/>
            <a:chExt cx="6393307" cy="1234726"/>
          </a:xfrm>
        </p:grpSpPr>
        <p:grpSp>
          <p:nvGrpSpPr>
            <p:cNvPr name="Group 20" id="20"/>
            <p:cNvGrpSpPr/>
            <p:nvPr/>
          </p:nvGrpSpPr>
          <p:grpSpPr>
            <a:xfrm rot="0">
              <a:off x="0" y="0"/>
              <a:ext cx="6393307" cy="1234726"/>
              <a:chOff x="0" y="0"/>
              <a:chExt cx="1262875" cy="243897"/>
            </a:xfrm>
          </p:grpSpPr>
          <p:sp>
            <p:nvSpPr>
              <p:cNvPr name="Freeform 21" id="21"/>
              <p:cNvSpPr/>
              <p:nvPr/>
            </p:nvSpPr>
            <p:spPr>
              <a:xfrm flipH="false" flipV="false" rot="0">
                <a:off x="0" y="0"/>
                <a:ext cx="1262875" cy="243897"/>
              </a:xfrm>
              <a:custGeom>
                <a:avLst/>
                <a:gdLst/>
                <a:ahLst/>
                <a:cxnLst/>
                <a:rect r="r" b="b" t="t" l="l"/>
                <a:pathLst>
                  <a:path h="243897" w="1262875">
                    <a:moveTo>
                      <a:pt x="56511" y="0"/>
                    </a:moveTo>
                    <a:lnTo>
                      <a:pt x="1206365" y="0"/>
                    </a:lnTo>
                    <a:cubicBezTo>
                      <a:pt x="1237575" y="0"/>
                      <a:pt x="1262875" y="25301"/>
                      <a:pt x="1262875" y="56511"/>
                    </a:cubicBezTo>
                    <a:lnTo>
                      <a:pt x="1262875" y="187386"/>
                    </a:lnTo>
                    <a:cubicBezTo>
                      <a:pt x="1262875" y="218596"/>
                      <a:pt x="1237575" y="243897"/>
                      <a:pt x="1206365" y="243897"/>
                    </a:cubicBezTo>
                    <a:lnTo>
                      <a:pt x="56511" y="243897"/>
                    </a:lnTo>
                    <a:cubicBezTo>
                      <a:pt x="25301" y="243897"/>
                      <a:pt x="0" y="218596"/>
                      <a:pt x="0" y="187386"/>
                    </a:cubicBezTo>
                    <a:lnTo>
                      <a:pt x="0" y="56511"/>
                    </a:lnTo>
                    <a:cubicBezTo>
                      <a:pt x="0" y="25301"/>
                      <a:pt x="25301" y="0"/>
                      <a:pt x="56511" y="0"/>
                    </a:cubicBezTo>
                    <a:close/>
                  </a:path>
                </a:pathLst>
              </a:custGeom>
              <a:gradFill rotWithShape="true">
                <a:gsLst>
                  <a:gs pos="0">
                    <a:srgbClr val="A3B18A">
                      <a:alpha val="4000"/>
                    </a:srgbClr>
                  </a:gs>
                  <a:gs pos="100000">
                    <a:srgbClr val="F4F1ED">
                      <a:alpha val="31600"/>
                    </a:srgbClr>
                  </a:gs>
                </a:gsLst>
                <a:lin ang="2700000"/>
              </a:gradFill>
              <a:ln w="38100" cap="rnd">
                <a:gradFill>
                  <a:gsLst>
                    <a:gs pos="0">
                      <a:srgbClr val="FFFFFF">
                        <a:alpha val="80000"/>
                      </a:srgbClr>
                    </a:gs>
                    <a:gs pos="25000">
                      <a:srgbClr val="9B9A9A">
                        <a:alpha val="80000"/>
                      </a:srgbClr>
                    </a:gs>
                    <a:gs pos="50000">
                      <a:srgbClr val="FFFFFF">
                        <a:alpha val="80000"/>
                      </a:srgbClr>
                    </a:gs>
                    <a:gs pos="75000">
                      <a:srgbClr val="9C9B9B">
                        <a:alpha val="80000"/>
                      </a:srgbClr>
                    </a:gs>
                    <a:gs pos="100000">
                      <a:srgbClr val="FFFFFF">
                        <a:alpha val="80000"/>
                      </a:srgbClr>
                    </a:gs>
                  </a:gsLst>
                  <a:lin ang="2700000"/>
                </a:gradFill>
                <a:prstDash val="solid"/>
                <a:round/>
              </a:ln>
            </p:spPr>
          </p:sp>
          <p:sp>
            <p:nvSpPr>
              <p:cNvPr name="TextBox 22" id="22"/>
              <p:cNvSpPr txBox="true"/>
              <p:nvPr/>
            </p:nvSpPr>
            <p:spPr>
              <a:xfrm>
                <a:off x="0" y="-104775"/>
                <a:ext cx="1262875" cy="348672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3528"/>
                  </a:lnSpc>
                  <a:spcBef>
                    <a:spcPct val="0"/>
                  </a:spcBef>
                </a:pPr>
              </a:p>
            </p:txBody>
          </p:sp>
        </p:grpSp>
        <p:sp>
          <p:nvSpPr>
            <p:cNvPr name="TextBox 23" id="23"/>
            <p:cNvSpPr txBox="true"/>
            <p:nvPr/>
          </p:nvSpPr>
          <p:spPr>
            <a:xfrm rot="0">
              <a:off x="981414" y="382625"/>
              <a:ext cx="5093764" cy="49805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 marL="0" indent="0" lvl="0">
                <a:lnSpc>
                  <a:spcPts val="2859"/>
                </a:lnSpc>
                <a:spcBef>
                  <a:spcPct val="0"/>
                </a:spcBef>
              </a:pPr>
              <a:r>
                <a:rPr lang="en-US" b="true" sz="2599">
                  <a:solidFill>
                    <a:srgbClr val="FFFFFF"/>
                  </a:solidFill>
                  <a:latin typeface="Inter Semi-Bold"/>
                  <a:ea typeface="Inter Semi-Bold"/>
                  <a:cs typeface="Inter Semi-Bold"/>
                  <a:sym typeface="Inter Semi-Bold"/>
                </a:rPr>
                <a:t>Obj</a:t>
              </a:r>
              <a:r>
                <a:rPr lang="en-US" b="true" sz="2599" strike="noStrike" u="none">
                  <a:solidFill>
                    <a:srgbClr val="FFFFFF"/>
                  </a:solidFill>
                  <a:latin typeface="Inter Semi-Bold"/>
                  <a:ea typeface="Inter Semi-Bold"/>
                  <a:cs typeface="Inter Semi-Bold"/>
                  <a:sym typeface="Inter Semi-Bold"/>
                </a:rPr>
                <a:t>e</a:t>
              </a:r>
              <a:r>
                <a:rPr lang="en-US" b="true" sz="2599" strike="noStrike" u="none">
                  <a:solidFill>
                    <a:srgbClr val="FFFFFF"/>
                  </a:solidFill>
                  <a:latin typeface="Inter Semi-Bold"/>
                  <a:ea typeface="Inter Semi-Bold"/>
                  <a:cs typeface="Inter Semi-Bold"/>
                  <a:sym typeface="Inter Semi-Bold"/>
                </a:rPr>
                <a:t>ct</a:t>
              </a:r>
              <a:r>
                <a:rPr lang="en-US" b="true" sz="2599" strike="noStrike" u="none">
                  <a:solidFill>
                    <a:srgbClr val="FFFFFF"/>
                  </a:solidFill>
                  <a:latin typeface="Inter Semi-Bold"/>
                  <a:ea typeface="Inter Semi-Bold"/>
                  <a:cs typeface="Inter Semi-Bold"/>
                  <a:sym typeface="Inter Semi-Bold"/>
                </a:rPr>
                <a:t>i</a:t>
              </a:r>
              <a:r>
                <a:rPr lang="en-US" b="true" sz="2599" strike="noStrike" u="none">
                  <a:solidFill>
                    <a:srgbClr val="FFFFFF"/>
                  </a:solidFill>
                  <a:latin typeface="Inter Semi-Bold"/>
                  <a:ea typeface="Inter Semi-Bold"/>
                  <a:cs typeface="Inter Semi-Bold"/>
                  <a:sym typeface="Inter Semi-Bold"/>
                </a:rPr>
                <a:t>v</a:t>
              </a:r>
              <a:r>
                <a:rPr lang="en-US" b="true" sz="2599" strike="noStrike" u="none">
                  <a:solidFill>
                    <a:srgbClr val="FFFFFF"/>
                  </a:solidFill>
                  <a:latin typeface="Inter Semi-Bold"/>
                  <a:ea typeface="Inter Semi-Bold"/>
                  <a:cs typeface="Inter Semi-Bold"/>
                  <a:sym typeface="Inter Semi-Bold"/>
                </a:rPr>
                <a:t>e</a:t>
              </a:r>
              <a:r>
                <a:rPr lang="en-US" b="true" sz="2599" strike="noStrike" u="none">
                  <a:solidFill>
                    <a:srgbClr val="FFFFFF"/>
                  </a:solidFill>
                  <a:latin typeface="Inter Semi-Bold"/>
                  <a:ea typeface="Inter Semi-Bold"/>
                  <a:cs typeface="Inter Semi-Bold"/>
                  <a:sym typeface="Inter Semi-Bold"/>
                </a:rPr>
                <a:t>:</a:t>
              </a:r>
            </a:p>
          </p:txBody>
        </p:sp>
        <p:sp>
          <p:nvSpPr>
            <p:cNvPr name="Freeform 24" id="24"/>
            <p:cNvSpPr/>
            <p:nvPr/>
          </p:nvSpPr>
          <p:spPr>
            <a:xfrm flipH="false" flipV="false" rot="0">
              <a:off x="318129" y="387345"/>
              <a:ext cx="409286" cy="460037"/>
            </a:xfrm>
            <a:custGeom>
              <a:avLst/>
              <a:gdLst/>
              <a:ahLst/>
              <a:cxnLst/>
              <a:rect r="r" b="b" t="t" l="l"/>
              <a:pathLst>
                <a:path h="460037" w="409286">
                  <a:moveTo>
                    <a:pt x="0" y="0"/>
                  </a:moveTo>
                  <a:lnTo>
                    <a:pt x="409285" y="0"/>
                  </a:lnTo>
                  <a:lnTo>
                    <a:pt x="409285" y="460037"/>
                  </a:lnTo>
                  <a:lnTo>
                    <a:pt x="0" y="4600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 l="0" t="0" r="0" b="0"/>
              </a:stretch>
            </a:blipFill>
          </p:spPr>
        </p:sp>
      </p:grpSp>
      <p:graphicFrame>
        <p:nvGraphicFramePr>
          <p:cNvPr name="Table 25" id="25"/>
          <p:cNvGraphicFramePr>
            <a:graphicFrameLocks noGrp="true"/>
          </p:cNvGraphicFramePr>
          <p:nvPr/>
        </p:nvGraphicFramePr>
        <p:xfrm>
          <a:off x="7059696" y="3979922"/>
          <a:ext cx="4158343" cy="4873625"/>
        </p:xfrm>
        <a:graphic>
          <a:graphicData uri="http://schemas.openxmlformats.org/drawingml/2006/table">
            <a:tbl>
              <a:tblPr/>
              <a:tblGrid>
                <a:gridCol w="2619406"/>
                <a:gridCol w="1538937"/>
              </a:tblGrid>
              <a:tr h="1779676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199"/>
                        </a:lnSpc>
                        <a:defRPr/>
                      </a:pPr>
                      <a:r>
                        <a:rPr lang="en-US" sz="2999" b="true">
                          <a:solidFill>
                            <a:srgbClr val="FFFFFF"/>
                          </a:solidFill>
                          <a:latin typeface="Inter Bold"/>
                          <a:ea typeface="Inter Bold"/>
                          <a:cs typeface="Inter Bold"/>
                          <a:sym typeface="Inter Bold"/>
                        </a:rPr>
                        <a:t>Employees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85725">
                      <a:solidFill>
                        <a:srgbClr val="8196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85725">
                      <a:solidFill>
                        <a:srgbClr val="8196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85725">
                      <a:solidFill>
                        <a:srgbClr val="8196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85725">
                      <a:solidFill>
                        <a:srgbClr val="8196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199"/>
                        </a:lnSpc>
                        <a:defRPr/>
                      </a:pPr>
                      <a:r>
                        <a:rPr lang="en-US" sz="2999" b="true">
                          <a:solidFill>
                            <a:srgbClr val="FFFFFF"/>
                          </a:solidFill>
                          <a:latin typeface="Inter Bold"/>
                          <a:ea typeface="Inter Bold"/>
                          <a:cs typeface="Inter Bold"/>
                          <a:sym typeface="Inter Bold"/>
                        </a:rPr>
                        <a:t>1,470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85725">
                      <a:solidFill>
                        <a:srgbClr val="8196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85725">
                      <a:solidFill>
                        <a:srgbClr val="8196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85725">
                      <a:solidFill>
                        <a:srgbClr val="8196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85725">
                      <a:solidFill>
                        <a:srgbClr val="8196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314273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199"/>
                        </a:lnSpc>
                        <a:defRPr/>
                      </a:pPr>
                      <a:r>
                        <a:rPr lang="en-US" sz="2999" b="true">
                          <a:solidFill>
                            <a:srgbClr val="FFFFFF"/>
                          </a:solidFill>
                          <a:latin typeface="Inter Bold"/>
                          <a:ea typeface="Inter Bold"/>
                          <a:cs typeface="Inter Bold"/>
                          <a:sym typeface="Inter Bold"/>
                        </a:rPr>
                        <a:t>Attritions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85725">
                      <a:solidFill>
                        <a:srgbClr val="8196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85725">
                      <a:solidFill>
                        <a:srgbClr val="8196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85725">
                      <a:solidFill>
                        <a:srgbClr val="8196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85725">
                      <a:solidFill>
                        <a:srgbClr val="8196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199"/>
                        </a:lnSpc>
                        <a:defRPr/>
                      </a:pPr>
                      <a:r>
                        <a:rPr lang="en-US" sz="2999" b="true">
                          <a:solidFill>
                            <a:srgbClr val="FFFFFF"/>
                          </a:solidFill>
                          <a:latin typeface="Inter Bold"/>
                          <a:ea typeface="Inter Bold"/>
                          <a:cs typeface="Inter Bold"/>
                          <a:sym typeface="Inter Bold"/>
                        </a:rPr>
                        <a:t>237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85725">
                      <a:solidFill>
                        <a:srgbClr val="8196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85725">
                      <a:solidFill>
                        <a:srgbClr val="8196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85725">
                      <a:solidFill>
                        <a:srgbClr val="8196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85725">
                      <a:solidFill>
                        <a:srgbClr val="8196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79676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199"/>
                        </a:lnSpc>
                        <a:defRPr/>
                      </a:pPr>
                      <a:r>
                        <a:rPr lang="en-US" sz="2999" b="true">
                          <a:solidFill>
                            <a:srgbClr val="FFFFFF"/>
                          </a:solidFill>
                          <a:latin typeface="Inter Bold"/>
                          <a:ea typeface="Inter Bold"/>
                          <a:cs typeface="Inter Bold"/>
                          <a:sym typeface="Inter Bold"/>
                        </a:rPr>
                        <a:t>Attrition Rate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85725">
                      <a:solidFill>
                        <a:srgbClr val="8196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85725">
                      <a:solidFill>
                        <a:srgbClr val="8196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85725">
                      <a:solidFill>
                        <a:srgbClr val="8196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85725">
                      <a:solidFill>
                        <a:srgbClr val="8196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199"/>
                        </a:lnSpc>
                        <a:defRPr/>
                      </a:pPr>
                      <a:r>
                        <a:rPr lang="en-US" sz="2999" b="true">
                          <a:solidFill>
                            <a:srgbClr val="FFFFFF"/>
                          </a:solidFill>
                          <a:latin typeface="Inter Bold"/>
                          <a:ea typeface="Inter Bold"/>
                          <a:cs typeface="Inter Bold"/>
                          <a:sym typeface="Inter Bold"/>
                        </a:rPr>
                        <a:t>~16%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85725">
                      <a:solidFill>
                        <a:srgbClr val="8196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85725">
                      <a:solidFill>
                        <a:srgbClr val="8196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85725">
                      <a:solidFill>
                        <a:srgbClr val="8196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85725">
                      <a:solidFill>
                        <a:srgbClr val="81967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name="TextBox 26" id="26"/>
          <p:cNvSpPr txBox="true"/>
          <p:nvPr/>
        </p:nvSpPr>
        <p:spPr>
          <a:xfrm rot="0">
            <a:off x="1028700" y="748146"/>
            <a:ext cx="16421100" cy="993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699"/>
              </a:lnSpc>
            </a:pPr>
            <a:r>
              <a:rPr lang="en-US" sz="6999" spc="-244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Problem Definition</a:t>
            </a:r>
            <a:r>
              <a:rPr lang="en-US" sz="6999" spc="-244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 &amp; Analytical Objective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509778" y="5183928"/>
            <a:ext cx="4317787" cy="376936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0" indent="0" lvl="0">
              <a:lnSpc>
                <a:spcPts val="2719"/>
              </a:lnSpc>
              <a:spcBef>
                <a:spcPct val="0"/>
              </a:spcBef>
            </a:pPr>
            <a:r>
              <a:rPr lang="en-US" sz="1999" spc="49">
                <a:solidFill>
                  <a:srgbClr val="FFFFFF"/>
                </a:solidFill>
                <a:latin typeface="Inter Light"/>
                <a:ea typeface="Inter Light"/>
                <a:cs typeface="Inter Light"/>
                <a:sym typeface="Inter Light"/>
              </a:rPr>
              <a:t>Traditional analysis treats attrition as independent factors and relies on aggregated</a:t>
            </a:r>
            <a:r>
              <a:rPr lang="en-US" sz="1999" spc="49" strike="noStrike" u="none">
                <a:solidFill>
                  <a:srgbClr val="FFFFFF"/>
                </a:solidFill>
                <a:latin typeface="Inter Light"/>
                <a:ea typeface="Inter Light"/>
                <a:cs typeface="Inter Light"/>
                <a:sym typeface="Inter Light"/>
              </a:rPr>
              <a:t> met</a:t>
            </a:r>
            <a:r>
              <a:rPr lang="en-US" sz="1999" spc="49" strike="noStrike" u="none">
                <a:solidFill>
                  <a:srgbClr val="FFFFFF"/>
                </a:solidFill>
                <a:latin typeface="Inter Light"/>
                <a:ea typeface="Inter Light"/>
                <a:cs typeface="Inter Light"/>
                <a:sym typeface="Inter Light"/>
              </a:rPr>
              <a:t>r</a:t>
            </a:r>
            <a:r>
              <a:rPr lang="en-US" sz="1999" spc="49" strike="noStrike" u="none">
                <a:solidFill>
                  <a:srgbClr val="FFFFFF"/>
                </a:solidFill>
                <a:latin typeface="Inter Light"/>
                <a:ea typeface="Inter Light"/>
                <a:cs typeface="Inter Light"/>
                <a:sym typeface="Inter Light"/>
              </a:rPr>
              <a:t>i</a:t>
            </a:r>
            <a:r>
              <a:rPr lang="en-US" sz="1999" spc="49" strike="noStrike" u="none">
                <a:solidFill>
                  <a:srgbClr val="FFFFFF"/>
                </a:solidFill>
                <a:latin typeface="Inter Light"/>
                <a:ea typeface="Inter Light"/>
                <a:cs typeface="Inter Light"/>
                <a:sym typeface="Inter Light"/>
              </a:rPr>
              <a:t>c</a:t>
            </a:r>
            <a:r>
              <a:rPr lang="en-US" sz="1999" spc="49" strike="noStrike" u="none">
                <a:solidFill>
                  <a:srgbClr val="FFFFFF"/>
                </a:solidFill>
                <a:latin typeface="Inter Light"/>
                <a:ea typeface="Inter Light"/>
                <a:cs typeface="Inter Light"/>
                <a:sym typeface="Inter Light"/>
              </a:rPr>
              <a:t>s</a:t>
            </a:r>
            <a:r>
              <a:rPr lang="en-US" sz="1999" spc="49" strike="noStrike" u="none">
                <a:solidFill>
                  <a:srgbClr val="FFFFFF"/>
                </a:solidFill>
                <a:latin typeface="Inter Light"/>
                <a:ea typeface="Inter Light"/>
                <a:cs typeface="Inter Light"/>
                <a:sym typeface="Inter Light"/>
              </a:rPr>
              <a:t>,</a:t>
            </a:r>
            <a:r>
              <a:rPr lang="en-US" sz="1999" spc="49" strike="noStrike" u="none">
                <a:solidFill>
                  <a:srgbClr val="FFFFFF"/>
                </a:solidFill>
                <a:latin typeface="Inter Light"/>
                <a:ea typeface="Inter Light"/>
                <a:cs typeface="Inter Light"/>
                <a:sym typeface="Inter Light"/>
              </a:rPr>
              <a:t> </a:t>
            </a:r>
            <a:r>
              <a:rPr lang="en-US" sz="1999" spc="49" strike="noStrike" u="none">
                <a:solidFill>
                  <a:srgbClr val="FFFFFF"/>
                </a:solidFill>
                <a:latin typeface="Inter Light"/>
                <a:ea typeface="Inter Light"/>
                <a:cs typeface="Inter Light"/>
                <a:sym typeface="Inter Light"/>
              </a:rPr>
              <a:t>which f</a:t>
            </a:r>
            <a:r>
              <a:rPr lang="en-US" sz="1999" spc="49" strike="noStrike" u="none">
                <a:solidFill>
                  <a:srgbClr val="FFFFFF"/>
                </a:solidFill>
                <a:latin typeface="Inter Light"/>
                <a:ea typeface="Inter Light"/>
                <a:cs typeface="Inter Light"/>
                <a:sym typeface="Inter Light"/>
              </a:rPr>
              <a:t>ail to capture in</a:t>
            </a:r>
            <a:r>
              <a:rPr lang="en-US" sz="1999" spc="49" strike="noStrike" u="none">
                <a:solidFill>
                  <a:srgbClr val="FFFFFF"/>
                </a:solidFill>
                <a:latin typeface="Inter Light"/>
                <a:ea typeface="Inter Light"/>
                <a:cs typeface="Inter Light"/>
                <a:sym typeface="Inter Light"/>
              </a:rPr>
              <a:t>teractions</a:t>
            </a:r>
            <a:r>
              <a:rPr lang="en-US" sz="1999" spc="49" strike="noStrike" u="none">
                <a:solidFill>
                  <a:srgbClr val="FFFFFF"/>
                </a:solidFill>
                <a:latin typeface="Inter Light"/>
                <a:ea typeface="Inter Light"/>
                <a:cs typeface="Inter Light"/>
                <a:sym typeface="Inter Light"/>
              </a:rPr>
              <a:t> between variables.</a:t>
            </a:r>
          </a:p>
          <a:p>
            <a:pPr algn="just" marL="0" indent="0" lvl="0">
              <a:lnSpc>
                <a:spcPts val="2719"/>
              </a:lnSpc>
              <a:spcBef>
                <a:spcPct val="0"/>
              </a:spcBef>
            </a:pPr>
          </a:p>
          <a:p>
            <a:pPr algn="just" marL="0" indent="0" lvl="0">
              <a:lnSpc>
                <a:spcPts val="2719"/>
              </a:lnSpc>
              <a:spcBef>
                <a:spcPct val="0"/>
              </a:spcBef>
            </a:pPr>
            <a:r>
              <a:rPr lang="en-US" sz="1999" spc="49" strike="noStrike" u="none">
                <a:solidFill>
                  <a:srgbClr val="FFFFFF"/>
                </a:solidFill>
                <a:latin typeface="Inter Light"/>
                <a:ea typeface="Inter Light"/>
                <a:cs typeface="Inter Light"/>
                <a:sym typeface="Inter Light"/>
              </a:rPr>
              <a:t>Attrition is a multi-variable system where workload, compensation, job role, and tenure interact in non-linear ways.</a:t>
            </a:r>
          </a:p>
          <a:p>
            <a:pPr algn="just" marL="0" indent="0" lvl="0">
              <a:lnSpc>
                <a:spcPts val="2719"/>
              </a:lnSpc>
              <a:spcBef>
                <a:spcPct val="0"/>
              </a:spcBef>
            </a:pPr>
          </a:p>
        </p:txBody>
      </p:sp>
      <p:sp>
        <p:nvSpPr>
          <p:cNvPr name="TextBox 28" id="28"/>
          <p:cNvSpPr txBox="true"/>
          <p:nvPr/>
        </p:nvSpPr>
        <p:spPr>
          <a:xfrm rot="0">
            <a:off x="12455302" y="5056675"/>
            <a:ext cx="4317787" cy="38966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96569" indent="-248284" lvl="1">
              <a:lnSpc>
                <a:spcPts val="3127"/>
              </a:lnSpc>
              <a:spcBef>
                <a:spcPct val="0"/>
              </a:spcBef>
              <a:buFont typeface="Arial"/>
              <a:buChar char="•"/>
            </a:pPr>
            <a:r>
              <a:rPr lang="en-US" sz="2299" spc="57">
                <a:solidFill>
                  <a:srgbClr val="FFFFFF"/>
                </a:solidFill>
                <a:latin typeface="Inter Light"/>
                <a:ea typeface="Inter Light"/>
                <a:cs typeface="Inter Light"/>
                <a:sym typeface="Inter Light"/>
              </a:rPr>
              <a:t>Identify and quan</a:t>
            </a:r>
            <a:r>
              <a:rPr lang="en-US" sz="2299" spc="57" strike="noStrike" u="none">
                <a:solidFill>
                  <a:srgbClr val="FFFFFF"/>
                </a:solidFill>
                <a:latin typeface="Inter Light"/>
                <a:ea typeface="Inter Light"/>
                <a:cs typeface="Inter Light"/>
                <a:sym typeface="Inter Light"/>
              </a:rPr>
              <a:t>tify key drivers of attrition</a:t>
            </a:r>
          </a:p>
          <a:p>
            <a:pPr algn="l" marL="496569" indent="-248284" lvl="1">
              <a:lnSpc>
                <a:spcPts val="3127"/>
              </a:lnSpc>
              <a:spcBef>
                <a:spcPct val="0"/>
              </a:spcBef>
              <a:buFont typeface="Arial"/>
              <a:buChar char="•"/>
            </a:pPr>
            <a:r>
              <a:rPr lang="en-US" sz="2299" spc="57" strike="noStrike" u="none">
                <a:solidFill>
                  <a:srgbClr val="FFFFFF"/>
                </a:solidFill>
                <a:latin typeface="Inter Light"/>
                <a:ea typeface="Inter Light"/>
                <a:cs typeface="Inter Light"/>
                <a:sym typeface="Inter Light"/>
              </a:rPr>
              <a:t>Analyze interaction between multiple variables</a:t>
            </a:r>
          </a:p>
          <a:p>
            <a:pPr algn="l" marL="496569" indent="-248284" lvl="1">
              <a:lnSpc>
                <a:spcPts val="3127"/>
              </a:lnSpc>
              <a:spcBef>
                <a:spcPct val="0"/>
              </a:spcBef>
              <a:buFont typeface="Arial"/>
              <a:buChar char="•"/>
            </a:pPr>
            <a:r>
              <a:rPr lang="en-US" sz="2299" spc="57" strike="noStrike" u="none">
                <a:solidFill>
                  <a:srgbClr val="FFFFFF"/>
                </a:solidFill>
                <a:latin typeface="Inter Light"/>
                <a:ea typeface="Inter Light"/>
                <a:cs typeface="Inter Light"/>
                <a:sym typeface="Inter Light"/>
              </a:rPr>
              <a:t>Detect hig</a:t>
            </a:r>
            <a:r>
              <a:rPr lang="en-US" sz="2299" spc="57" strike="noStrike" u="none">
                <a:solidFill>
                  <a:srgbClr val="FFFFFF"/>
                </a:solidFill>
                <a:latin typeface="Inter Light"/>
                <a:ea typeface="Inter Light"/>
                <a:cs typeface="Inter Light"/>
                <a:sym typeface="Inter Light"/>
              </a:rPr>
              <a:t>h-r</a:t>
            </a:r>
            <a:r>
              <a:rPr lang="en-US" sz="2299" spc="57" strike="noStrike" u="none">
                <a:solidFill>
                  <a:srgbClr val="FFFFFF"/>
                </a:solidFill>
                <a:latin typeface="Inter Light"/>
                <a:ea typeface="Inter Light"/>
                <a:cs typeface="Inter Light"/>
                <a:sym typeface="Inter Light"/>
              </a:rPr>
              <a:t>isk employee segments</a:t>
            </a:r>
          </a:p>
          <a:p>
            <a:pPr algn="l" marL="496569" indent="-248284" lvl="1">
              <a:lnSpc>
                <a:spcPts val="3127"/>
              </a:lnSpc>
              <a:spcBef>
                <a:spcPct val="0"/>
              </a:spcBef>
              <a:buFont typeface="Arial"/>
              <a:buChar char="•"/>
            </a:pPr>
            <a:r>
              <a:rPr lang="en-US" sz="2299" spc="57" strike="noStrike" u="none">
                <a:solidFill>
                  <a:srgbClr val="FFFFFF"/>
                </a:solidFill>
                <a:latin typeface="Inter Light"/>
                <a:ea typeface="Inter Light"/>
                <a:cs typeface="Inter Light"/>
                <a:sym typeface="Inter Light"/>
              </a:rPr>
              <a:t>Enable data-driven, predictive insights</a:t>
            </a:r>
          </a:p>
          <a:p>
            <a:pPr algn="l" marL="0" indent="0" lvl="0">
              <a:lnSpc>
                <a:spcPts val="3127"/>
              </a:lnSpc>
              <a:spcBef>
                <a:spcPct val="0"/>
              </a:spcBef>
            </a:pP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5C7257">
                <a:alpha val="100000"/>
              </a:srgbClr>
            </a:gs>
            <a:gs pos="50000">
              <a:srgbClr val="2F472C">
                <a:alpha val="100000"/>
              </a:srgbClr>
            </a:gs>
            <a:gs pos="100000">
              <a:srgbClr val="1F371C">
                <a:alpha val="100000"/>
              </a:srgbClr>
            </a:gs>
          </a:gsLst>
          <a:path path="circle">
            <a:fillToRect l="0" r="100000" t="0" b="100000"/>
          </a:path>
          <a:tileRect r="0" l="-100000" b="0" t="-1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2451851"/>
            <a:ext cx="8302366" cy="1838255"/>
            <a:chOff x="0" y="0"/>
            <a:chExt cx="3051849" cy="6757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051849" cy="675720"/>
            </a:xfrm>
            <a:custGeom>
              <a:avLst/>
              <a:gdLst/>
              <a:ahLst/>
              <a:cxnLst/>
              <a:rect r="r" b="b" t="t" l="l"/>
              <a:pathLst>
                <a:path h="675720" w="3051849">
                  <a:moveTo>
                    <a:pt x="55950" y="0"/>
                  </a:moveTo>
                  <a:lnTo>
                    <a:pt x="2995899" y="0"/>
                  </a:lnTo>
                  <a:cubicBezTo>
                    <a:pt x="3010738" y="0"/>
                    <a:pt x="3024969" y="5895"/>
                    <a:pt x="3035461" y="16387"/>
                  </a:cubicBezTo>
                  <a:cubicBezTo>
                    <a:pt x="3045954" y="26880"/>
                    <a:pt x="3051849" y="41111"/>
                    <a:pt x="3051849" y="55950"/>
                  </a:cubicBezTo>
                  <a:lnTo>
                    <a:pt x="3051849" y="619770"/>
                  </a:lnTo>
                  <a:cubicBezTo>
                    <a:pt x="3051849" y="650671"/>
                    <a:pt x="3026799" y="675720"/>
                    <a:pt x="2995899" y="675720"/>
                  </a:cubicBezTo>
                  <a:lnTo>
                    <a:pt x="55950" y="675720"/>
                  </a:lnTo>
                  <a:cubicBezTo>
                    <a:pt x="41111" y="675720"/>
                    <a:pt x="26880" y="669825"/>
                    <a:pt x="16387" y="659333"/>
                  </a:cubicBezTo>
                  <a:cubicBezTo>
                    <a:pt x="5895" y="648840"/>
                    <a:pt x="0" y="634609"/>
                    <a:pt x="0" y="619770"/>
                  </a:cubicBezTo>
                  <a:lnTo>
                    <a:pt x="0" y="55950"/>
                  </a:lnTo>
                  <a:cubicBezTo>
                    <a:pt x="0" y="41111"/>
                    <a:pt x="5895" y="26880"/>
                    <a:pt x="16387" y="16387"/>
                  </a:cubicBezTo>
                  <a:cubicBezTo>
                    <a:pt x="26880" y="5895"/>
                    <a:pt x="41111" y="0"/>
                    <a:pt x="55950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FFFFFF">
                      <a:alpha val="80000"/>
                    </a:srgbClr>
                  </a:gs>
                  <a:gs pos="25000">
                    <a:srgbClr val="9B9A9A">
                      <a:alpha val="80000"/>
                    </a:srgbClr>
                  </a:gs>
                  <a:gs pos="50000">
                    <a:srgbClr val="FFFFFF">
                      <a:alpha val="80000"/>
                    </a:srgbClr>
                  </a:gs>
                  <a:gs pos="75000">
                    <a:srgbClr val="9C9B9B">
                      <a:alpha val="80000"/>
                    </a:srgbClr>
                  </a:gs>
                  <a:gs pos="100000">
                    <a:srgbClr val="FFFFFF">
                      <a:alpha val="8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04775"/>
              <a:ext cx="3051849" cy="78049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528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1028700" y="4509181"/>
            <a:ext cx="9799650" cy="1781016"/>
            <a:chOff x="0" y="0"/>
            <a:chExt cx="3602232" cy="65468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3602232" cy="654680"/>
            </a:xfrm>
            <a:custGeom>
              <a:avLst/>
              <a:gdLst/>
              <a:ahLst/>
              <a:cxnLst/>
              <a:rect r="r" b="b" t="t" l="l"/>
              <a:pathLst>
                <a:path h="654680" w="3602232">
                  <a:moveTo>
                    <a:pt x="47401" y="0"/>
                  </a:moveTo>
                  <a:lnTo>
                    <a:pt x="3554831" y="0"/>
                  </a:lnTo>
                  <a:cubicBezTo>
                    <a:pt x="3581010" y="0"/>
                    <a:pt x="3602232" y="21222"/>
                    <a:pt x="3602232" y="47401"/>
                  </a:cubicBezTo>
                  <a:lnTo>
                    <a:pt x="3602232" y="607278"/>
                  </a:lnTo>
                  <a:cubicBezTo>
                    <a:pt x="3602232" y="633457"/>
                    <a:pt x="3581010" y="654680"/>
                    <a:pt x="3554831" y="654680"/>
                  </a:cubicBezTo>
                  <a:lnTo>
                    <a:pt x="47401" y="654680"/>
                  </a:lnTo>
                  <a:cubicBezTo>
                    <a:pt x="21222" y="654680"/>
                    <a:pt x="0" y="633457"/>
                    <a:pt x="0" y="607278"/>
                  </a:cubicBezTo>
                  <a:lnTo>
                    <a:pt x="0" y="47401"/>
                  </a:lnTo>
                  <a:cubicBezTo>
                    <a:pt x="0" y="21222"/>
                    <a:pt x="21222" y="0"/>
                    <a:pt x="47401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FFFFFF">
                      <a:alpha val="80000"/>
                    </a:srgbClr>
                  </a:gs>
                  <a:gs pos="25000">
                    <a:srgbClr val="9B9A9A">
                      <a:alpha val="80000"/>
                    </a:srgbClr>
                  </a:gs>
                  <a:gs pos="50000">
                    <a:srgbClr val="FFFFFF">
                      <a:alpha val="80000"/>
                    </a:srgbClr>
                  </a:gs>
                  <a:gs pos="75000">
                    <a:srgbClr val="9C9B9B">
                      <a:alpha val="80000"/>
                    </a:srgbClr>
                  </a:gs>
                  <a:gs pos="100000">
                    <a:srgbClr val="FFFFFF">
                      <a:alpha val="8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0" y="-104775"/>
              <a:ext cx="3602232" cy="75945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528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8" id="8"/>
          <p:cNvSpPr/>
          <p:nvPr/>
        </p:nvSpPr>
        <p:spPr>
          <a:xfrm flipH="false" flipV="false" rot="0">
            <a:off x="1509778" y="2767335"/>
            <a:ext cx="306964" cy="345028"/>
          </a:xfrm>
          <a:custGeom>
            <a:avLst/>
            <a:gdLst/>
            <a:ahLst/>
            <a:cxnLst/>
            <a:rect r="r" b="b" t="t" l="l"/>
            <a:pathLst>
              <a:path h="345028" w="306964">
                <a:moveTo>
                  <a:pt x="0" y="0"/>
                </a:moveTo>
                <a:lnTo>
                  <a:pt x="306964" y="0"/>
                </a:lnTo>
                <a:lnTo>
                  <a:pt x="306964" y="345028"/>
                </a:lnTo>
                <a:lnTo>
                  <a:pt x="0" y="34502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689376" y="4824665"/>
            <a:ext cx="306964" cy="345028"/>
          </a:xfrm>
          <a:custGeom>
            <a:avLst/>
            <a:gdLst/>
            <a:ahLst/>
            <a:cxnLst/>
            <a:rect r="r" b="b" t="t" l="l"/>
            <a:pathLst>
              <a:path h="345028" w="306964">
                <a:moveTo>
                  <a:pt x="0" y="0"/>
                </a:moveTo>
                <a:lnTo>
                  <a:pt x="306965" y="0"/>
                </a:lnTo>
                <a:lnTo>
                  <a:pt x="306965" y="345028"/>
                </a:lnTo>
                <a:lnTo>
                  <a:pt x="0" y="34502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11791617" y="1863637"/>
            <a:ext cx="4666330" cy="7738854"/>
          </a:xfrm>
          <a:custGeom>
            <a:avLst/>
            <a:gdLst/>
            <a:ahLst/>
            <a:cxnLst/>
            <a:rect r="r" b="b" t="t" l="l"/>
            <a:pathLst>
              <a:path h="7738854" w="4666330">
                <a:moveTo>
                  <a:pt x="0" y="0"/>
                </a:moveTo>
                <a:lnTo>
                  <a:pt x="4666331" y="0"/>
                </a:lnTo>
                <a:lnTo>
                  <a:pt x="4666331" y="7738854"/>
                </a:lnTo>
                <a:lnTo>
                  <a:pt x="0" y="77388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1226" t="-3830" r="0" b="-3830"/>
            </a:stretch>
          </a:blipFill>
        </p:spPr>
      </p:sp>
      <p:sp>
        <p:nvSpPr>
          <p:cNvPr name="TextBox 11" id="11"/>
          <p:cNvSpPr txBox="true"/>
          <p:nvPr/>
        </p:nvSpPr>
        <p:spPr>
          <a:xfrm rot="0">
            <a:off x="1028700" y="738621"/>
            <a:ext cx="16230600" cy="1003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700"/>
              </a:lnSpc>
            </a:pPr>
            <a:r>
              <a:rPr lang="en-US" sz="7000" spc="-245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Methodology &amp; Analytical Fr</a:t>
            </a:r>
            <a:r>
              <a:rPr lang="en-US" sz="7000" spc="-245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amework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509778" y="3352421"/>
            <a:ext cx="7570725" cy="666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74976" indent="-237488" lvl="1">
              <a:lnSpc>
                <a:spcPts val="2639"/>
              </a:lnSpc>
              <a:buFont typeface="Arial"/>
              <a:buChar char="•"/>
            </a:pPr>
            <a:r>
              <a:rPr lang="en-US" sz="219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Tableau (Data Visualization &amp; Interactive Dashboard)</a:t>
            </a:r>
          </a:p>
          <a:p>
            <a:pPr algn="l" marL="474976" indent="-237488" lvl="1">
              <a:lnSpc>
                <a:spcPts val="2639"/>
              </a:lnSpc>
              <a:buFont typeface="Arial"/>
              <a:buChar char="•"/>
            </a:pPr>
            <a:r>
              <a:rPr lang="en-US" sz="219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Microsoft Excel (Data Pr</a:t>
            </a:r>
            <a:r>
              <a:rPr lang="en-US" sz="219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eparation &amp; Preprocessing)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2007242" y="2770939"/>
            <a:ext cx="3820323" cy="3663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59"/>
              </a:lnSpc>
            </a:pPr>
            <a:r>
              <a:rPr lang="en-US" sz="2599" b="true">
                <a:solidFill>
                  <a:srgbClr val="FFFFFF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Tools Used: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509778" y="5399689"/>
            <a:ext cx="9165090" cy="666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74976" indent="-237488" lvl="1">
              <a:lnSpc>
                <a:spcPts val="2639"/>
              </a:lnSpc>
              <a:buFont typeface="Arial"/>
              <a:buChar char="•"/>
            </a:pPr>
            <a:r>
              <a:rPr lang="en-US" sz="219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Categorical Variables: Department, Job Role, Attrition, Overtime</a:t>
            </a:r>
          </a:p>
          <a:p>
            <a:pPr algn="l" marL="474976" indent="-237488" lvl="1">
              <a:lnSpc>
                <a:spcPts val="2639"/>
              </a:lnSpc>
              <a:buFont typeface="Arial"/>
              <a:buChar char="•"/>
            </a:pPr>
            <a:r>
              <a:rPr lang="en-US" sz="219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Nume</a:t>
            </a:r>
            <a:r>
              <a:rPr lang="en-US" sz="219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rical Variables: Mon</a:t>
            </a:r>
            <a:r>
              <a:rPr lang="en-US" sz="219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thly Income, Years at Company, Age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2186841" y="4828269"/>
            <a:ext cx="3820323" cy="3663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59"/>
              </a:lnSpc>
            </a:pPr>
            <a:r>
              <a:rPr lang="en-US" sz="2599" b="true">
                <a:solidFill>
                  <a:srgbClr val="FFFFFF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Data Structure:</a:t>
            </a:r>
          </a:p>
        </p:txBody>
      </p:sp>
      <p:grpSp>
        <p:nvGrpSpPr>
          <p:cNvPr name="Group 16" id="16"/>
          <p:cNvGrpSpPr/>
          <p:nvPr/>
        </p:nvGrpSpPr>
        <p:grpSpPr>
          <a:xfrm rot="0">
            <a:off x="1028700" y="6528322"/>
            <a:ext cx="9799650" cy="2729978"/>
            <a:chOff x="0" y="0"/>
            <a:chExt cx="3602232" cy="1003507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3602232" cy="1003507"/>
            </a:xfrm>
            <a:custGeom>
              <a:avLst/>
              <a:gdLst/>
              <a:ahLst/>
              <a:cxnLst/>
              <a:rect r="r" b="b" t="t" l="l"/>
              <a:pathLst>
                <a:path h="1003507" w="3602232">
                  <a:moveTo>
                    <a:pt x="47401" y="0"/>
                  </a:moveTo>
                  <a:lnTo>
                    <a:pt x="3554831" y="0"/>
                  </a:lnTo>
                  <a:cubicBezTo>
                    <a:pt x="3581010" y="0"/>
                    <a:pt x="3602232" y="21222"/>
                    <a:pt x="3602232" y="47401"/>
                  </a:cubicBezTo>
                  <a:lnTo>
                    <a:pt x="3602232" y="956105"/>
                  </a:lnTo>
                  <a:cubicBezTo>
                    <a:pt x="3602232" y="982284"/>
                    <a:pt x="3581010" y="1003507"/>
                    <a:pt x="3554831" y="1003507"/>
                  </a:cubicBezTo>
                  <a:lnTo>
                    <a:pt x="47401" y="1003507"/>
                  </a:lnTo>
                  <a:cubicBezTo>
                    <a:pt x="21222" y="1003507"/>
                    <a:pt x="0" y="982284"/>
                    <a:pt x="0" y="956105"/>
                  </a:cubicBezTo>
                  <a:lnTo>
                    <a:pt x="0" y="47401"/>
                  </a:lnTo>
                  <a:cubicBezTo>
                    <a:pt x="0" y="21222"/>
                    <a:pt x="21222" y="0"/>
                    <a:pt x="47401" y="0"/>
                  </a:cubicBezTo>
                  <a:close/>
                </a:path>
              </a:pathLst>
            </a:custGeom>
            <a:ln w="38100" cap="rnd">
              <a:gradFill>
                <a:gsLst>
                  <a:gs pos="0">
                    <a:srgbClr val="FFFFFF">
                      <a:alpha val="80000"/>
                    </a:srgbClr>
                  </a:gs>
                  <a:gs pos="25000">
                    <a:srgbClr val="9B9A9A">
                      <a:alpha val="80000"/>
                    </a:srgbClr>
                  </a:gs>
                  <a:gs pos="50000">
                    <a:srgbClr val="FFFFFF">
                      <a:alpha val="80000"/>
                    </a:srgbClr>
                  </a:gs>
                  <a:gs pos="75000">
                    <a:srgbClr val="9C9B9B">
                      <a:alpha val="80000"/>
                    </a:srgbClr>
                  </a:gs>
                  <a:gs pos="100000">
                    <a:srgbClr val="FFFFFF">
                      <a:alpha val="80000"/>
                    </a:srgbClr>
                  </a:gs>
                </a:gsLst>
                <a:lin ang="2700000"/>
              </a:gradFill>
              <a:prstDash val="solid"/>
              <a:round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0" y="-104775"/>
              <a:ext cx="3602232" cy="1108282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528"/>
                </a:lnSpc>
                <a:spcBef>
                  <a:spcPct val="0"/>
                </a:spcBef>
              </a:pPr>
            </a:p>
          </p:txBody>
        </p:sp>
      </p:grpSp>
      <p:sp>
        <p:nvSpPr>
          <p:cNvPr name="TextBox 19" id="19"/>
          <p:cNvSpPr txBox="true"/>
          <p:nvPr/>
        </p:nvSpPr>
        <p:spPr>
          <a:xfrm rot="0">
            <a:off x="1509778" y="7423354"/>
            <a:ext cx="9165090" cy="1666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474976" indent="-237488" lvl="1">
              <a:lnSpc>
                <a:spcPts val="2639"/>
              </a:lnSpc>
              <a:buFont typeface="Arial"/>
              <a:buChar char="•"/>
            </a:pPr>
            <a:r>
              <a:rPr lang="en-US" sz="219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Attrition Rate Calculation (calculated field)</a:t>
            </a:r>
          </a:p>
          <a:p>
            <a:pPr algn="l" marL="474976" indent="-237488" lvl="1">
              <a:lnSpc>
                <a:spcPts val="2639"/>
              </a:lnSpc>
              <a:buFont typeface="Arial"/>
              <a:buChar char="•"/>
            </a:pPr>
            <a:r>
              <a:rPr lang="en-US" sz="219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Risk Segmentation (Low, Medium, High)</a:t>
            </a:r>
          </a:p>
          <a:p>
            <a:pPr algn="l" marL="474976" indent="-237488" lvl="1">
              <a:lnSpc>
                <a:spcPts val="2639"/>
              </a:lnSpc>
              <a:buFont typeface="Arial"/>
              <a:buChar char="•"/>
            </a:pPr>
            <a:r>
              <a:rPr lang="en-US" sz="219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Tenure Binning (0–5, 5–10, 10+ years)</a:t>
            </a:r>
          </a:p>
          <a:p>
            <a:pPr algn="l" marL="474976" indent="-237488" lvl="1">
              <a:lnSpc>
                <a:spcPts val="2639"/>
              </a:lnSpc>
              <a:buFont typeface="Arial"/>
              <a:buChar char="•"/>
            </a:pPr>
            <a:r>
              <a:rPr lang="en-US" sz="219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Comparative</a:t>
            </a:r>
            <a:r>
              <a:rPr lang="en-US" sz="219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Analys</a:t>
            </a:r>
            <a:r>
              <a:rPr lang="en-US" sz="219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is (category vs attrition)</a:t>
            </a:r>
          </a:p>
          <a:p>
            <a:pPr algn="l" marL="474976" indent="-237488" lvl="1">
              <a:lnSpc>
                <a:spcPts val="2639"/>
              </a:lnSpc>
              <a:buFont typeface="Arial"/>
              <a:buChar char="•"/>
            </a:pPr>
            <a:r>
              <a:rPr lang="en-US" sz="219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Dis</a:t>
            </a:r>
            <a:r>
              <a:rPr lang="en-US" sz="219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tribution Analysis (income and tenure patterns)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2186841" y="6847409"/>
            <a:ext cx="3820323" cy="3663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59"/>
              </a:lnSpc>
            </a:pPr>
            <a:r>
              <a:rPr lang="en-US" sz="2599" b="true">
                <a:solidFill>
                  <a:srgbClr val="FFFFFF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Analytical Methods: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5C7257">
                <a:alpha val="100000"/>
              </a:srgbClr>
            </a:gs>
            <a:gs pos="50000">
              <a:srgbClr val="2F472C">
                <a:alpha val="100000"/>
              </a:srgbClr>
            </a:gs>
            <a:gs pos="100000">
              <a:srgbClr val="1F371C">
                <a:alpha val="100000"/>
              </a:srgbClr>
            </a:gs>
          </a:gsLst>
          <a:path path="circle">
            <a:fillToRect l="0" r="100000" t="0" b="100000"/>
          </a:path>
          <a:tileRect r="0" l="-100000" b="0" t="-1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793761" y="1831009"/>
            <a:ext cx="14700477" cy="7699375"/>
          </a:xfrm>
          <a:custGeom>
            <a:avLst/>
            <a:gdLst/>
            <a:ahLst/>
            <a:cxnLst/>
            <a:rect r="r" b="b" t="t" l="l"/>
            <a:pathLst>
              <a:path h="7699375" w="14700477">
                <a:moveTo>
                  <a:pt x="0" y="0"/>
                </a:moveTo>
                <a:lnTo>
                  <a:pt x="14700478" y="0"/>
                </a:lnTo>
                <a:lnTo>
                  <a:pt x="14700478" y="7699375"/>
                </a:lnTo>
                <a:lnTo>
                  <a:pt x="0" y="769937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1028700" y="555625"/>
            <a:ext cx="16230600" cy="1003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700"/>
              </a:lnSpc>
            </a:pPr>
            <a:r>
              <a:rPr lang="en-US" sz="7000" spc="-245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Full Dashboard Overvi</a:t>
            </a:r>
            <a:r>
              <a:rPr lang="en-US" sz="7000" spc="-245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ew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5C7257">
                <a:alpha val="100000"/>
              </a:srgbClr>
            </a:gs>
            <a:gs pos="50000">
              <a:srgbClr val="2F472C">
                <a:alpha val="100000"/>
              </a:srgbClr>
            </a:gs>
            <a:gs pos="100000">
              <a:srgbClr val="1F371C">
                <a:alpha val="100000"/>
              </a:srgbClr>
            </a:gs>
          </a:gsLst>
          <a:path path="circle">
            <a:fillToRect l="0" r="100000" t="0" b="100000"/>
          </a:path>
          <a:tileRect r="0" l="-100000" b="0" t="-1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781086" y="1762241"/>
            <a:ext cx="16230600" cy="551995"/>
            <a:chOff x="0" y="0"/>
            <a:chExt cx="21640800" cy="735993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0"/>
              <a:ext cx="21640800" cy="735993"/>
              <a:chOff x="0" y="0"/>
              <a:chExt cx="4274726" cy="145381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4274726" cy="145381"/>
              </a:xfrm>
              <a:custGeom>
                <a:avLst/>
                <a:gdLst/>
                <a:ahLst/>
                <a:cxnLst/>
                <a:rect r="r" b="b" t="t" l="l"/>
                <a:pathLst>
                  <a:path h="145381" w="4274726">
                    <a:moveTo>
                      <a:pt x="28620" y="0"/>
                    </a:moveTo>
                    <a:lnTo>
                      <a:pt x="4246106" y="0"/>
                    </a:lnTo>
                    <a:cubicBezTo>
                      <a:pt x="4261912" y="0"/>
                      <a:pt x="4274726" y="12813"/>
                      <a:pt x="4274726" y="28620"/>
                    </a:cubicBezTo>
                    <a:lnTo>
                      <a:pt x="4274726" y="116762"/>
                    </a:lnTo>
                    <a:cubicBezTo>
                      <a:pt x="4274726" y="132568"/>
                      <a:pt x="4261912" y="145381"/>
                      <a:pt x="4246106" y="145381"/>
                    </a:cubicBezTo>
                    <a:lnTo>
                      <a:pt x="28620" y="145381"/>
                    </a:lnTo>
                    <a:cubicBezTo>
                      <a:pt x="12813" y="145381"/>
                      <a:pt x="0" y="132568"/>
                      <a:pt x="0" y="116762"/>
                    </a:cubicBezTo>
                    <a:lnTo>
                      <a:pt x="0" y="28620"/>
                    </a:lnTo>
                    <a:cubicBezTo>
                      <a:pt x="0" y="12813"/>
                      <a:pt x="12813" y="0"/>
                      <a:pt x="28620" y="0"/>
                    </a:cubicBezTo>
                    <a:close/>
                  </a:path>
                </a:pathLst>
              </a:custGeom>
              <a:gradFill rotWithShape="true">
                <a:gsLst>
                  <a:gs pos="0">
                    <a:srgbClr val="A3B18A">
                      <a:alpha val="4000"/>
                    </a:srgbClr>
                  </a:gs>
                  <a:gs pos="100000">
                    <a:srgbClr val="F4F1ED">
                      <a:alpha val="31600"/>
                    </a:srgbClr>
                  </a:gs>
                </a:gsLst>
                <a:lin ang="2700000"/>
              </a:gradFill>
              <a:ln w="38100" cap="rnd">
                <a:gradFill>
                  <a:gsLst>
                    <a:gs pos="0">
                      <a:srgbClr val="FFFFFF">
                        <a:alpha val="80000"/>
                      </a:srgbClr>
                    </a:gs>
                    <a:gs pos="25000">
                      <a:srgbClr val="9B9A9A">
                        <a:alpha val="80000"/>
                      </a:srgbClr>
                    </a:gs>
                    <a:gs pos="50000">
                      <a:srgbClr val="FFFFFF">
                        <a:alpha val="80000"/>
                      </a:srgbClr>
                    </a:gs>
                    <a:gs pos="75000">
                      <a:srgbClr val="9C9B9B">
                        <a:alpha val="80000"/>
                      </a:srgbClr>
                    </a:gs>
                    <a:gs pos="100000">
                      <a:srgbClr val="FFFFFF">
                        <a:alpha val="80000"/>
                      </a:srgbClr>
                    </a:gs>
                  </a:gsLst>
                  <a:lin ang="2700000"/>
                </a:gradFill>
                <a:prstDash val="solid"/>
                <a:round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104775"/>
                <a:ext cx="4274726" cy="25015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3528"/>
                  </a:lnSpc>
                  <a:spcBef>
                    <a:spcPct val="0"/>
                  </a:spcBef>
                </a:pPr>
              </a:p>
            </p:txBody>
          </p:sp>
        </p:grpSp>
        <p:sp>
          <p:nvSpPr>
            <p:cNvPr name="TextBox 6" id="6"/>
            <p:cNvSpPr txBox="true"/>
            <p:nvPr/>
          </p:nvSpPr>
          <p:spPr>
            <a:xfrm rot="0">
              <a:off x="519379" y="119288"/>
              <a:ext cx="20602042" cy="4497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>
                  <a:solidFill>
                    <a:srgbClr val="FFFFFF"/>
                  </a:solidFill>
                  <a:latin typeface="Inter Light"/>
                  <a:ea typeface="Inter Light"/>
                  <a:cs typeface="Inter Light"/>
                  <a:sym typeface="Inter Light"/>
                </a:rPr>
                <a:t>A</a:t>
              </a:r>
              <a:r>
                <a:rPr lang="en-US" sz="2000" strike="noStrike" u="none">
                  <a:solidFill>
                    <a:srgbClr val="FFFFFF"/>
                  </a:solidFill>
                  <a:latin typeface="Inter Light"/>
                  <a:ea typeface="Inter Light"/>
                  <a:cs typeface="Inter Light"/>
                  <a:sym typeface="Inter Light"/>
                </a:rPr>
                <a:t>ttrition is not evenly distributed — it is concentrated in specific workforce conditions</a:t>
              </a:r>
            </a:p>
          </p:txBody>
        </p:sp>
      </p:grpSp>
      <p:sp>
        <p:nvSpPr>
          <p:cNvPr name="AutoShape 7" id="7"/>
          <p:cNvSpPr/>
          <p:nvPr/>
        </p:nvSpPr>
        <p:spPr>
          <a:xfrm flipH="true">
            <a:off x="775369" y="5685210"/>
            <a:ext cx="16593446" cy="0"/>
          </a:xfrm>
          <a:prstGeom prst="line">
            <a:avLst/>
          </a:prstGeom>
          <a:ln cap="flat" w="9525">
            <a:solidFill>
              <a:srgbClr val="FFFFFF">
                <a:alpha val="49804"/>
              </a:srgbClr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8" id="8"/>
          <p:cNvSpPr/>
          <p:nvPr/>
        </p:nvSpPr>
        <p:spPr>
          <a:xfrm>
            <a:off x="9363860" y="2742671"/>
            <a:ext cx="0" cy="5899613"/>
          </a:xfrm>
          <a:prstGeom prst="line">
            <a:avLst/>
          </a:prstGeom>
          <a:ln cap="flat" w="9525">
            <a:solidFill>
              <a:srgbClr val="FFFFFF">
                <a:alpha val="49804"/>
              </a:srgbClr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9" id="9"/>
          <p:cNvGrpSpPr/>
          <p:nvPr/>
        </p:nvGrpSpPr>
        <p:grpSpPr>
          <a:xfrm rot="0">
            <a:off x="856354" y="9176162"/>
            <a:ext cx="16230600" cy="904420"/>
            <a:chOff x="0" y="0"/>
            <a:chExt cx="21640800" cy="1205893"/>
          </a:xfrm>
        </p:grpSpPr>
        <p:grpSp>
          <p:nvGrpSpPr>
            <p:cNvPr name="Group 10" id="10"/>
            <p:cNvGrpSpPr/>
            <p:nvPr/>
          </p:nvGrpSpPr>
          <p:grpSpPr>
            <a:xfrm rot="0">
              <a:off x="0" y="0"/>
              <a:ext cx="21640800" cy="1205893"/>
              <a:chOff x="0" y="0"/>
              <a:chExt cx="4274726" cy="238201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4274726" cy="238201"/>
              </a:xfrm>
              <a:custGeom>
                <a:avLst/>
                <a:gdLst/>
                <a:ahLst/>
                <a:cxnLst/>
                <a:rect r="r" b="b" t="t" l="l"/>
                <a:pathLst>
                  <a:path h="238201" w="4274726">
                    <a:moveTo>
                      <a:pt x="28620" y="0"/>
                    </a:moveTo>
                    <a:lnTo>
                      <a:pt x="4246106" y="0"/>
                    </a:lnTo>
                    <a:cubicBezTo>
                      <a:pt x="4261912" y="0"/>
                      <a:pt x="4274726" y="12813"/>
                      <a:pt x="4274726" y="28620"/>
                    </a:cubicBezTo>
                    <a:lnTo>
                      <a:pt x="4274726" y="209581"/>
                    </a:lnTo>
                    <a:cubicBezTo>
                      <a:pt x="4274726" y="225388"/>
                      <a:pt x="4261912" y="238201"/>
                      <a:pt x="4246106" y="238201"/>
                    </a:cubicBezTo>
                    <a:lnTo>
                      <a:pt x="28620" y="238201"/>
                    </a:lnTo>
                    <a:cubicBezTo>
                      <a:pt x="12813" y="238201"/>
                      <a:pt x="0" y="225388"/>
                      <a:pt x="0" y="209581"/>
                    </a:cubicBezTo>
                    <a:lnTo>
                      <a:pt x="0" y="28620"/>
                    </a:lnTo>
                    <a:cubicBezTo>
                      <a:pt x="0" y="12813"/>
                      <a:pt x="12813" y="0"/>
                      <a:pt x="28620" y="0"/>
                    </a:cubicBezTo>
                    <a:close/>
                  </a:path>
                </a:pathLst>
              </a:custGeom>
              <a:gradFill rotWithShape="true">
                <a:gsLst>
                  <a:gs pos="0">
                    <a:srgbClr val="A3B18A">
                      <a:alpha val="4000"/>
                    </a:srgbClr>
                  </a:gs>
                  <a:gs pos="100000">
                    <a:srgbClr val="F4F1ED">
                      <a:alpha val="31600"/>
                    </a:srgbClr>
                  </a:gs>
                </a:gsLst>
                <a:lin ang="2700000"/>
              </a:gradFill>
              <a:ln w="38100" cap="rnd">
                <a:gradFill>
                  <a:gsLst>
                    <a:gs pos="0">
                      <a:srgbClr val="FFFFFF">
                        <a:alpha val="80000"/>
                      </a:srgbClr>
                    </a:gs>
                    <a:gs pos="25000">
                      <a:srgbClr val="9B9A9A">
                        <a:alpha val="80000"/>
                      </a:srgbClr>
                    </a:gs>
                    <a:gs pos="50000">
                      <a:srgbClr val="FFFFFF">
                        <a:alpha val="80000"/>
                      </a:srgbClr>
                    </a:gs>
                    <a:gs pos="75000">
                      <a:srgbClr val="9C9B9B">
                        <a:alpha val="80000"/>
                      </a:srgbClr>
                    </a:gs>
                    <a:gs pos="100000">
                      <a:srgbClr val="FFFFFF">
                        <a:alpha val="80000"/>
                      </a:srgbClr>
                    </a:gs>
                  </a:gsLst>
                  <a:lin ang="2700000"/>
                </a:gradFill>
                <a:prstDash val="solid"/>
                <a:round/>
              </a:ln>
            </p:spPr>
          </p:sp>
          <p:sp>
            <p:nvSpPr>
              <p:cNvPr name="TextBox 12" id="12"/>
              <p:cNvSpPr txBox="true"/>
              <p:nvPr/>
            </p:nvSpPr>
            <p:spPr>
              <a:xfrm>
                <a:off x="0" y="-104775"/>
                <a:ext cx="4274726" cy="342976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3528"/>
                  </a:lnSpc>
                  <a:spcBef>
                    <a:spcPct val="0"/>
                  </a:spcBef>
                </a:pPr>
              </a:p>
            </p:txBody>
          </p:sp>
        </p:grpSp>
        <p:sp>
          <p:nvSpPr>
            <p:cNvPr name="TextBox 13" id="13"/>
            <p:cNvSpPr txBox="true"/>
            <p:nvPr/>
          </p:nvSpPr>
          <p:spPr>
            <a:xfrm rot="0">
              <a:off x="519379" y="119288"/>
              <a:ext cx="21121421" cy="91969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>
                  <a:solidFill>
                    <a:srgbClr val="FFFFFF"/>
                  </a:solidFill>
                  <a:latin typeface="Inter Light"/>
                  <a:ea typeface="Inter Light"/>
                  <a:cs typeface="Inter Light"/>
                  <a:sym typeface="Inter Light"/>
                </a:rPr>
                <a:t>H</a:t>
              </a:r>
              <a:r>
                <a:rPr lang="en-US" sz="2000" strike="noStrike" u="none">
                  <a:solidFill>
                    <a:srgbClr val="FFFFFF"/>
                  </a:solidFill>
                  <a:latin typeface="Inter Light"/>
                  <a:ea typeface="Inter Light"/>
                  <a:cs typeface="Inter Light"/>
                  <a:sym typeface="Inter Light"/>
                </a:rPr>
                <a:t>ighest Risk Condition: Early tenure + Overtime + Low income + High-pressure roles</a:t>
              </a:r>
            </a:p>
            <a:p>
              <a:pPr algn="ctr" marL="0" indent="0" lvl="0">
                <a:lnSpc>
                  <a:spcPts val="2800"/>
                </a:lnSpc>
                <a:spcBef>
                  <a:spcPct val="0"/>
                </a:spcBef>
              </a:pPr>
              <a:r>
                <a:rPr lang="en-US" sz="2000" strike="noStrike" u="none">
                  <a:solidFill>
                    <a:srgbClr val="FFFFFF"/>
                  </a:solidFill>
                  <a:latin typeface="Inter Light"/>
                  <a:ea typeface="Inter Light"/>
                  <a:cs typeface="Inter Light"/>
                  <a:sym typeface="Inter Light"/>
                </a:rPr>
                <a:t>→ Attrition emerges from combined stress factors, not single variables</a:t>
              </a: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0">
            <a:off x="9363860" y="5766840"/>
            <a:ext cx="5458219" cy="2980887"/>
          </a:xfrm>
          <a:custGeom>
            <a:avLst/>
            <a:gdLst/>
            <a:ahLst/>
            <a:cxnLst/>
            <a:rect r="r" b="b" t="t" l="l"/>
            <a:pathLst>
              <a:path h="2980887" w="5458219">
                <a:moveTo>
                  <a:pt x="0" y="0"/>
                </a:moveTo>
                <a:lnTo>
                  <a:pt x="5458218" y="0"/>
                </a:lnTo>
                <a:lnTo>
                  <a:pt x="5458218" y="2980887"/>
                </a:lnTo>
                <a:lnTo>
                  <a:pt x="0" y="298088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90000"/>
            </a:blip>
            <a:stretch>
              <a:fillRect l="-31" t="0" r="-11423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15" id="15"/>
          <p:cNvSpPr/>
          <p:nvPr/>
        </p:nvSpPr>
        <p:spPr>
          <a:xfrm flipH="false" flipV="false" rot="0">
            <a:off x="13765305" y="5898789"/>
            <a:ext cx="802165" cy="910897"/>
          </a:xfrm>
          <a:custGeom>
            <a:avLst/>
            <a:gdLst/>
            <a:ahLst/>
            <a:cxnLst/>
            <a:rect r="r" b="b" t="t" l="l"/>
            <a:pathLst>
              <a:path h="910897" w="802165">
                <a:moveTo>
                  <a:pt x="0" y="0"/>
                </a:moveTo>
                <a:lnTo>
                  <a:pt x="802164" y="0"/>
                </a:lnTo>
                <a:lnTo>
                  <a:pt x="802164" y="910897"/>
                </a:lnTo>
                <a:lnTo>
                  <a:pt x="0" y="91089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90000"/>
            </a:blip>
            <a:stretch>
              <a:fillRect l="-1308845" t="0" r="0" b="-507929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16" id="16"/>
          <p:cNvSpPr/>
          <p:nvPr/>
        </p:nvSpPr>
        <p:spPr>
          <a:xfrm flipH="false" flipV="false" rot="0">
            <a:off x="2804443" y="2742671"/>
            <a:ext cx="6559417" cy="2918726"/>
          </a:xfrm>
          <a:custGeom>
            <a:avLst/>
            <a:gdLst/>
            <a:ahLst/>
            <a:cxnLst/>
            <a:rect r="r" b="b" t="t" l="l"/>
            <a:pathLst>
              <a:path h="2918726" w="6559417">
                <a:moveTo>
                  <a:pt x="0" y="0"/>
                </a:moveTo>
                <a:lnTo>
                  <a:pt x="6559417" y="0"/>
                </a:lnTo>
                <a:lnTo>
                  <a:pt x="6559417" y="2918726"/>
                </a:lnTo>
                <a:lnTo>
                  <a:pt x="0" y="2918726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90000"/>
            </a:blip>
            <a:stretch>
              <a:fillRect l="-1561" t="0" r="-5337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2847305" y="5762078"/>
            <a:ext cx="6516555" cy="2976125"/>
          </a:xfrm>
          <a:custGeom>
            <a:avLst/>
            <a:gdLst/>
            <a:ahLst/>
            <a:cxnLst/>
            <a:rect r="r" b="b" t="t" l="l"/>
            <a:pathLst>
              <a:path h="2976125" w="6516555">
                <a:moveTo>
                  <a:pt x="0" y="0"/>
                </a:moveTo>
                <a:lnTo>
                  <a:pt x="6516555" y="0"/>
                </a:lnTo>
                <a:lnTo>
                  <a:pt x="6516555" y="2976124"/>
                </a:lnTo>
                <a:lnTo>
                  <a:pt x="0" y="2976124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90000"/>
            </a:blip>
            <a:stretch>
              <a:fillRect l="0" t="-160" r="0" b="-7355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18" id="18"/>
          <p:cNvSpPr/>
          <p:nvPr/>
        </p:nvSpPr>
        <p:spPr>
          <a:xfrm flipH="false" flipV="false" rot="0">
            <a:off x="9405392" y="2742671"/>
            <a:ext cx="5416686" cy="2918726"/>
          </a:xfrm>
          <a:custGeom>
            <a:avLst/>
            <a:gdLst/>
            <a:ahLst/>
            <a:cxnLst/>
            <a:rect r="r" b="b" t="t" l="l"/>
            <a:pathLst>
              <a:path h="2918726" w="5416686">
                <a:moveTo>
                  <a:pt x="0" y="0"/>
                </a:moveTo>
                <a:lnTo>
                  <a:pt x="5416686" y="0"/>
                </a:lnTo>
                <a:lnTo>
                  <a:pt x="5416686" y="2918726"/>
                </a:lnTo>
                <a:lnTo>
                  <a:pt x="0" y="291872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90000"/>
            </a:blip>
            <a:stretch>
              <a:fillRect l="0" t="0" r="-16505" b="0"/>
            </a:stretch>
          </a:blipFill>
          <a:ln cap="sq">
            <a:noFill/>
            <a:prstDash val="solid"/>
            <a:miter/>
          </a:ln>
        </p:spPr>
      </p:sp>
      <p:sp>
        <p:nvSpPr>
          <p:cNvPr name="TextBox 19" id="19"/>
          <p:cNvSpPr txBox="true"/>
          <p:nvPr/>
        </p:nvSpPr>
        <p:spPr>
          <a:xfrm rot="0">
            <a:off x="1028700" y="748146"/>
            <a:ext cx="16421100" cy="993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99"/>
              </a:lnSpc>
            </a:pPr>
            <a:r>
              <a:rPr lang="en-US" sz="6999" spc="-244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What</a:t>
            </a:r>
            <a:r>
              <a:rPr lang="en-US" sz="6999" spc="-244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 Actually Drives Attrition?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924746" y="3682511"/>
            <a:ext cx="1841597" cy="1866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8620" indent="-194310" lvl="1">
              <a:lnSpc>
                <a:spcPts val="2160"/>
              </a:lnSpc>
              <a:buFont typeface="Arial"/>
              <a:buChar char="•"/>
            </a:pPr>
            <a:r>
              <a:rPr lang="en-US" sz="1800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Overtime → ~30.5% attrition</a:t>
            </a:r>
          </a:p>
          <a:p>
            <a:pPr algn="l" marL="388620" indent="-194310" lvl="1">
              <a:lnSpc>
                <a:spcPts val="2160"/>
              </a:lnSpc>
              <a:buFont typeface="Arial"/>
              <a:buChar char="•"/>
            </a:pPr>
            <a:r>
              <a:rPr lang="en-US" sz="1800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No overtime → ~10.4%</a:t>
            </a:r>
          </a:p>
          <a:p>
            <a:pPr algn="l" marL="0" indent="0" lvl="0">
              <a:lnSpc>
                <a:spcPts val="216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→ Nearly 3× higher risk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4944536" y="3682511"/>
            <a:ext cx="2424279" cy="1866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8620" indent="-194310" lvl="1">
              <a:lnSpc>
                <a:spcPts val="2160"/>
              </a:lnSpc>
              <a:buFont typeface="Arial"/>
              <a:buChar char="•"/>
            </a:pPr>
            <a:r>
              <a:rPr lang="en-US" sz="1800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0–5 years → highest attrition (~18%)</a:t>
            </a:r>
          </a:p>
          <a:p>
            <a:pPr algn="l" marL="388620" indent="-194310" lvl="1">
              <a:lnSpc>
                <a:spcPts val="2160"/>
              </a:lnSpc>
              <a:buFont typeface="Arial"/>
              <a:buChar char="•"/>
            </a:pPr>
            <a:r>
              <a:rPr lang="en-US" sz="1800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10 years → minimal attrition</a:t>
            </a:r>
          </a:p>
          <a:p>
            <a:pPr algn="l" marL="0" indent="0" lvl="0">
              <a:lnSpc>
                <a:spcPts val="216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→ Instability at entry stage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756936" y="6614127"/>
            <a:ext cx="2157044" cy="2133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8620" indent="-194310" lvl="1">
              <a:lnSpc>
                <a:spcPts val="2160"/>
              </a:lnSpc>
              <a:buFont typeface="Arial"/>
              <a:buChar char="•"/>
            </a:pPr>
            <a:r>
              <a:rPr lang="en-US" sz="1800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Attrition cluster: ₹3K–₹4K</a:t>
            </a:r>
          </a:p>
          <a:p>
            <a:pPr algn="l" marL="388620" indent="-194310" lvl="1">
              <a:lnSpc>
                <a:spcPts val="2160"/>
              </a:lnSpc>
              <a:buFont typeface="Arial"/>
              <a:buChar char="•"/>
            </a:pPr>
            <a:r>
              <a:rPr lang="en-US" sz="1800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Retention cluster: ₹5K–₹6K</a:t>
            </a:r>
          </a:p>
          <a:p>
            <a:pPr algn="l" marL="0" indent="0" lvl="0">
              <a:lnSpc>
                <a:spcPts val="216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→ Lower income reduces retention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4944536" y="6880827"/>
            <a:ext cx="2331764" cy="1866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8620" indent="-194310" lvl="1">
              <a:lnSpc>
                <a:spcPts val="2160"/>
              </a:lnSpc>
              <a:buFont typeface="Arial"/>
              <a:buChar char="•"/>
            </a:pPr>
            <a:r>
              <a:rPr lang="en-US" sz="1800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</a:t>
            </a:r>
            <a:r>
              <a:rPr lang="en-US" sz="1800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ales → ~20.6% a</a:t>
            </a:r>
            <a:r>
              <a:rPr lang="en-US" sz="1800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</a:t>
            </a:r>
            <a:r>
              <a:rPr lang="en-US" sz="1800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trition</a:t>
            </a:r>
          </a:p>
          <a:p>
            <a:pPr algn="l" marL="388620" indent="-194310" lvl="1">
              <a:lnSpc>
                <a:spcPts val="2160"/>
              </a:lnSpc>
              <a:buFont typeface="Arial"/>
              <a:buChar char="•"/>
            </a:pPr>
            <a:r>
              <a:rPr lang="en-US" sz="1800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L</a:t>
            </a:r>
            <a:r>
              <a:rPr lang="en-US" sz="1800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</a:t>
            </a:r>
            <a:r>
              <a:rPr lang="en-US" sz="1800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b Technician → ~23.9% (highes</a:t>
            </a:r>
            <a:r>
              <a:rPr lang="en-US" sz="1800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</a:t>
            </a:r>
            <a:r>
              <a:rPr lang="en-US" sz="1800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)</a:t>
            </a:r>
          </a:p>
          <a:p>
            <a:pPr algn="l" marL="0" indent="0" lvl="0">
              <a:lnSpc>
                <a:spcPts val="2160"/>
              </a:lnSpc>
              <a:spcBef>
                <a:spcPct val="0"/>
              </a:spcBef>
            </a:pPr>
            <a:r>
              <a:rPr lang="en-US" sz="1800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→ High-press</a:t>
            </a:r>
            <a:r>
              <a:rPr lang="en-US" sz="1800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u</a:t>
            </a:r>
            <a:r>
              <a:rPr lang="en-US" sz="1800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 roles drive exit</a:t>
            </a:r>
            <a:r>
              <a:rPr lang="en-US" sz="1800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</a:t>
            </a:r>
          </a:p>
        </p:txBody>
      </p:sp>
      <p:sp>
        <p:nvSpPr>
          <p:cNvPr name="Freeform 24" id="24"/>
          <p:cNvSpPr/>
          <p:nvPr/>
        </p:nvSpPr>
        <p:spPr>
          <a:xfrm flipH="false" flipV="false" rot="0">
            <a:off x="13765305" y="2960363"/>
            <a:ext cx="802165" cy="910897"/>
          </a:xfrm>
          <a:custGeom>
            <a:avLst/>
            <a:gdLst/>
            <a:ahLst/>
            <a:cxnLst/>
            <a:rect r="r" b="b" t="t" l="l"/>
            <a:pathLst>
              <a:path h="910897" w="802165">
                <a:moveTo>
                  <a:pt x="0" y="0"/>
                </a:moveTo>
                <a:lnTo>
                  <a:pt x="802164" y="0"/>
                </a:lnTo>
                <a:lnTo>
                  <a:pt x="802164" y="910897"/>
                </a:lnTo>
                <a:lnTo>
                  <a:pt x="0" y="91089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90000"/>
            </a:blip>
            <a:stretch>
              <a:fillRect l="-1308845" t="0" r="0" b="-507929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25" id="25"/>
          <p:cNvSpPr/>
          <p:nvPr/>
        </p:nvSpPr>
        <p:spPr>
          <a:xfrm flipH="false" flipV="false" rot="0">
            <a:off x="8341835" y="4179563"/>
            <a:ext cx="802165" cy="910897"/>
          </a:xfrm>
          <a:custGeom>
            <a:avLst/>
            <a:gdLst/>
            <a:ahLst/>
            <a:cxnLst/>
            <a:rect r="r" b="b" t="t" l="l"/>
            <a:pathLst>
              <a:path h="910897" w="802165">
                <a:moveTo>
                  <a:pt x="0" y="0"/>
                </a:moveTo>
                <a:lnTo>
                  <a:pt x="802165" y="0"/>
                </a:lnTo>
                <a:lnTo>
                  <a:pt x="802165" y="910897"/>
                </a:lnTo>
                <a:lnTo>
                  <a:pt x="0" y="910897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alphaModFix amt="90000"/>
            </a:blip>
            <a:stretch>
              <a:fillRect l="-1308845" t="0" r="0" b="-507929"/>
            </a:stretch>
          </a:blipFill>
          <a:ln cap="sq">
            <a:noFill/>
            <a:prstDash val="solid"/>
            <a:miter/>
          </a:ln>
        </p:spPr>
      </p:sp>
      <p:grpSp>
        <p:nvGrpSpPr>
          <p:cNvPr name="Group 26" id="26"/>
          <p:cNvGrpSpPr/>
          <p:nvPr/>
        </p:nvGrpSpPr>
        <p:grpSpPr>
          <a:xfrm rot="0">
            <a:off x="856354" y="2775992"/>
            <a:ext cx="1789117" cy="906520"/>
            <a:chOff x="0" y="0"/>
            <a:chExt cx="2385490" cy="1208693"/>
          </a:xfrm>
        </p:grpSpPr>
        <p:grpSp>
          <p:nvGrpSpPr>
            <p:cNvPr name="Group 27" id="27"/>
            <p:cNvGrpSpPr/>
            <p:nvPr/>
          </p:nvGrpSpPr>
          <p:grpSpPr>
            <a:xfrm rot="0">
              <a:off x="0" y="0"/>
              <a:ext cx="2385490" cy="1208693"/>
              <a:chOff x="0" y="0"/>
              <a:chExt cx="669498" cy="339225"/>
            </a:xfrm>
          </p:grpSpPr>
          <p:sp>
            <p:nvSpPr>
              <p:cNvPr name="Freeform 28" id="28"/>
              <p:cNvSpPr/>
              <p:nvPr/>
            </p:nvSpPr>
            <p:spPr>
              <a:xfrm flipH="false" flipV="false" rot="0">
                <a:off x="0" y="0"/>
                <a:ext cx="669498" cy="339225"/>
              </a:xfrm>
              <a:custGeom>
                <a:avLst/>
                <a:gdLst/>
                <a:ahLst/>
                <a:cxnLst/>
                <a:rect r="r" b="b" t="t" l="l"/>
                <a:pathLst>
                  <a:path h="339225" w="669498">
                    <a:moveTo>
                      <a:pt x="106596" y="0"/>
                    </a:moveTo>
                    <a:lnTo>
                      <a:pt x="562902" y="0"/>
                    </a:lnTo>
                    <a:cubicBezTo>
                      <a:pt x="591173" y="0"/>
                      <a:pt x="618286" y="11231"/>
                      <a:pt x="638277" y="31221"/>
                    </a:cubicBezTo>
                    <a:cubicBezTo>
                      <a:pt x="658268" y="51212"/>
                      <a:pt x="669498" y="78325"/>
                      <a:pt x="669498" y="106596"/>
                    </a:cubicBezTo>
                    <a:lnTo>
                      <a:pt x="669498" y="232629"/>
                    </a:lnTo>
                    <a:cubicBezTo>
                      <a:pt x="669498" y="260900"/>
                      <a:pt x="658268" y="288013"/>
                      <a:pt x="638277" y="308004"/>
                    </a:cubicBezTo>
                    <a:cubicBezTo>
                      <a:pt x="618286" y="327994"/>
                      <a:pt x="591173" y="339225"/>
                      <a:pt x="562902" y="339225"/>
                    </a:cubicBezTo>
                    <a:lnTo>
                      <a:pt x="106596" y="339225"/>
                    </a:lnTo>
                    <a:cubicBezTo>
                      <a:pt x="78325" y="339225"/>
                      <a:pt x="51212" y="327994"/>
                      <a:pt x="31221" y="308004"/>
                    </a:cubicBezTo>
                    <a:cubicBezTo>
                      <a:pt x="11231" y="288013"/>
                      <a:pt x="0" y="260900"/>
                      <a:pt x="0" y="232629"/>
                    </a:cubicBezTo>
                    <a:lnTo>
                      <a:pt x="0" y="106596"/>
                    </a:lnTo>
                    <a:cubicBezTo>
                      <a:pt x="0" y="78325"/>
                      <a:pt x="11231" y="51212"/>
                      <a:pt x="31221" y="31221"/>
                    </a:cubicBezTo>
                    <a:cubicBezTo>
                      <a:pt x="51212" y="11231"/>
                      <a:pt x="78325" y="0"/>
                      <a:pt x="106596" y="0"/>
                    </a:cubicBezTo>
                    <a:close/>
                  </a:path>
                </a:pathLst>
              </a:custGeom>
              <a:gradFill rotWithShape="true">
                <a:gsLst>
                  <a:gs pos="0">
                    <a:srgbClr val="A3B18A">
                      <a:alpha val="4000"/>
                    </a:srgbClr>
                  </a:gs>
                  <a:gs pos="100000">
                    <a:srgbClr val="F4F1ED">
                      <a:alpha val="31600"/>
                    </a:srgbClr>
                  </a:gs>
                </a:gsLst>
                <a:lin ang="2700000"/>
              </a:gradFill>
              <a:ln w="38100" cap="rnd">
                <a:gradFill>
                  <a:gsLst>
                    <a:gs pos="0">
                      <a:srgbClr val="FFFFFF">
                        <a:alpha val="80000"/>
                      </a:srgbClr>
                    </a:gs>
                    <a:gs pos="25000">
                      <a:srgbClr val="9B9A9A">
                        <a:alpha val="80000"/>
                      </a:srgbClr>
                    </a:gs>
                    <a:gs pos="50000">
                      <a:srgbClr val="FFFFFF">
                        <a:alpha val="80000"/>
                      </a:srgbClr>
                    </a:gs>
                    <a:gs pos="75000">
                      <a:srgbClr val="9C9B9B">
                        <a:alpha val="80000"/>
                      </a:srgbClr>
                    </a:gs>
                    <a:gs pos="100000">
                      <a:srgbClr val="FFFFFF">
                        <a:alpha val="80000"/>
                      </a:srgbClr>
                    </a:gs>
                  </a:gsLst>
                  <a:lin ang="2700000"/>
                </a:gradFill>
                <a:prstDash val="solid"/>
                <a:round/>
              </a:ln>
            </p:spPr>
          </p:sp>
          <p:sp>
            <p:nvSpPr>
              <p:cNvPr name="TextBox 29" id="29"/>
              <p:cNvSpPr txBox="true"/>
              <p:nvPr/>
            </p:nvSpPr>
            <p:spPr>
              <a:xfrm>
                <a:off x="0" y="-104775"/>
                <a:ext cx="669498" cy="4440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3528"/>
                  </a:lnSpc>
                  <a:spcBef>
                    <a:spcPct val="0"/>
                  </a:spcBef>
                </a:pPr>
              </a:p>
            </p:txBody>
          </p:sp>
        </p:grpSp>
        <p:sp>
          <p:nvSpPr>
            <p:cNvPr name="Freeform 30" id="30"/>
            <p:cNvSpPr/>
            <p:nvPr/>
          </p:nvSpPr>
          <p:spPr>
            <a:xfrm flipH="false" flipV="false" rot="0">
              <a:off x="223906" y="442454"/>
              <a:ext cx="288064" cy="323784"/>
            </a:xfrm>
            <a:custGeom>
              <a:avLst/>
              <a:gdLst/>
              <a:ahLst/>
              <a:cxnLst/>
              <a:rect r="r" b="b" t="t" l="l"/>
              <a:pathLst>
                <a:path h="323784" w="288064">
                  <a:moveTo>
                    <a:pt x="0" y="0"/>
                  </a:moveTo>
                  <a:lnTo>
                    <a:pt x="288065" y="0"/>
                  </a:lnTo>
                  <a:lnTo>
                    <a:pt x="288065" y="323785"/>
                  </a:lnTo>
                  <a:lnTo>
                    <a:pt x="0" y="323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 rot="0">
              <a:off x="690741" y="258713"/>
              <a:ext cx="1541125" cy="70079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012"/>
                </a:lnSpc>
              </a:pPr>
              <a:r>
                <a:rPr lang="en-US" sz="1829" b="true">
                  <a:solidFill>
                    <a:srgbClr val="FFFFFF"/>
                  </a:solidFill>
                  <a:latin typeface="Inter Semi-Bold"/>
                  <a:ea typeface="Inter Semi-Bold"/>
                  <a:cs typeface="Inter Semi-Bold"/>
                  <a:sym typeface="Inter Semi-Bold"/>
                </a:rPr>
                <a:t>Workload</a:t>
              </a:r>
            </a:p>
            <a:p>
              <a:pPr algn="l">
                <a:lnSpc>
                  <a:spcPts val="2012"/>
                </a:lnSpc>
              </a:pPr>
              <a:r>
                <a:rPr lang="en-US" sz="1829" b="true">
                  <a:solidFill>
                    <a:srgbClr val="FFFFFF"/>
                  </a:solidFill>
                  <a:latin typeface="Inter Semi-Bold"/>
                  <a:ea typeface="Inter Semi-Bold"/>
                  <a:cs typeface="Inter Semi-Bold"/>
                  <a:sym typeface="Inter Semi-Bold"/>
                </a:rPr>
                <a:t> Effect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856354" y="5726339"/>
            <a:ext cx="1789117" cy="863223"/>
            <a:chOff x="0" y="0"/>
            <a:chExt cx="2385490" cy="1150964"/>
          </a:xfrm>
        </p:grpSpPr>
        <p:grpSp>
          <p:nvGrpSpPr>
            <p:cNvPr name="Group 33" id="33"/>
            <p:cNvGrpSpPr/>
            <p:nvPr/>
          </p:nvGrpSpPr>
          <p:grpSpPr>
            <a:xfrm rot="0">
              <a:off x="0" y="0"/>
              <a:ext cx="2385490" cy="1150964"/>
              <a:chOff x="0" y="0"/>
              <a:chExt cx="669498" cy="323023"/>
            </a:xfrm>
          </p:grpSpPr>
          <p:sp>
            <p:nvSpPr>
              <p:cNvPr name="Freeform 34" id="34"/>
              <p:cNvSpPr/>
              <p:nvPr/>
            </p:nvSpPr>
            <p:spPr>
              <a:xfrm flipH="false" flipV="false" rot="0">
                <a:off x="0" y="0"/>
                <a:ext cx="669498" cy="323023"/>
              </a:xfrm>
              <a:custGeom>
                <a:avLst/>
                <a:gdLst/>
                <a:ahLst/>
                <a:cxnLst/>
                <a:rect r="r" b="b" t="t" l="l"/>
                <a:pathLst>
                  <a:path h="323023" w="669498">
                    <a:moveTo>
                      <a:pt x="106596" y="0"/>
                    </a:moveTo>
                    <a:lnTo>
                      <a:pt x="562902" y="0"/>
                    </a:lnTo>
                    <a:cubicBezTo>
                      <a:pt x="591173" y="0"/>
                      <a:pt x="618286" y="11231"/>
                      <a:pt x="638277" y="31221"/>
                    </a:cubicBezTo>
                    <a:cubicBezTo>
                      <a:pt x="658268" y="51212"/>
                      <a:pt x="669498" y="78325"/>
                      <a:pt x="669498" y="106596"/>
                    </a:cubicBezTo>
                    <a:lnTo>
                      <a:pt x="669498" y="216427"/>
                    </a:lnTo>
                    <a:cubicBezTo>
                      <a:pt x="669498" y="244698"/>
                      <a:pt x="658268" y="271811"/>
                      <a:pt x="638277" y="291802"/>
                    </a:cubicBezTo>
                    <a:cubicBezTo>
                      <a:pt x="618286" y="311792"/>
                      <a:pt x="591173" y="323023"/>
                      <a:pt x="562902" y="323023"/>
                    </a:cubicBezTo>
                    <a:lnTo>
                      <a:pt x="106596" y="323023"/>
                    </a:lnTo>
                    <a:cubicBezTo>
                      <a:pt x="78325" y="323023"/>
                      <a:pt x="51212" y="311792"/>
                      <a:pt x="31221" y="291802"/>
                    </a:cubicBezTo>
                    <a:cubicBezTo>
                      <a:pt x="11231" y="271811"/>
                      <a:pt x="0" y="244698"/>
                      <a:pt x="0" y="216427"/>
                    </a:cubicBezTo>
                    <a:lnTo>
                      <a:pt x="0" y="106596"/>
                    </a:lnTo>
                    <a:cubicBezTo>
                      <a:pt x="0" y="78325"/>
                      <a:pt x="11231" y="51212"/>
                      <a:pt x="31221" y="31221"/>
                    </a:cubicBezTo>
                    <a:cubicBezTo>
                      <a:pt x="51212" y="11231"/>
                      <a:pt x="78325" y="0"/>
                      <a:pt x="106596" y="0"/>
                    </a:cubicBezTo>
                    <a:close/>
                  </a:path>
                </a:pathLst>
              </a:custGeom>
              <a:gradFill rotWithShape="true">
                <a:gsLst>
                  <a:gs pos="0">
                    <a:srgbClr val="A3B18A">
                      <a:alpha val="4000"/>
                    </a:srgbClr>
                  </a:gs>
                  <a:gs pos="100000">
                    <a:srgbClr val="F4F1ED">
                      <a:alpha val="31600"/>
                    </a:srgbClr>
                  </a:gs>
                </a:gsLst>
                <a:lin ang="2700000"/>
              </a:gradFill>
              <a:ln w="38100" cap="rnd">
                <a:gradFill>
                  <a:gsLst>
                    <a:gs pos="0">
                      <a:srgbClr val="FFFFFF">
                        <a:alpha val="80000"/>
                      </a:srgbClr>
                    </a:gs>
                    <a:gs pos="25000">
                      <a:srgbClr val="9B9A9A">
                        <a:alpha val="80000"/>
                      </a:srgbClr>
                    </a:gs>
                    <a:gs pos="50000">
                      <a:srgbClr val="FFFFFF">
                        <a:alpha val="80000"/>
                      </a:srgbClr>
                    </a:gs>
                    <a:gs pos="75000">
                      <a:srgbClr val="9C9B9B">
                        <a:alpha val="80000"/>
                      </a:srgbClr>
                    </a:gs>
                    <a:gs pos="100000">
                      <a:srgbClr val="FFFFFF">
                        <a:alpha val="80000"/>
                      </a:srgbClr>
                    </a:gs>
                  </a:gsLst>
                  <a:lin ang="2700000"/>
                </a:gradFill>
                <a:prstDash val="solid"/>
                <a:round/>
              </a:ln>
            </p:spPr>
          </p:sp>
          <p:sp>
            <p:nvSpPr>
              <p:cNvPr name="TextBox 35" id="35"/>
              <p:cNvSpPr txBox="true"/>
              <p:nvPr/>
            </p:nvSpPr>
            <p:spPr>
              <a:xfrm>
                <a:off x="0" y="-104775"/>
                <a:ext cx="669498" cy="427798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3528"/>
                  </a:lnSpc>
                  <a:spcBef>
                    <a:spcPct val="0"/>
                  </a:spcBef>
                </a:pPr>
              </a:p>
            </p:txBody>
          </p:sp>
        </p:grpSp>
        <p:sp>
          <p:nvSpPr>
            <p:cNvPr name="Freeform 36" id="36"/>
            <p:cNvSpPr/>
            <p:nvPr/>
          </p:nvSpPr>
          <p:spPr>
            <a:xfrm flipH="false" flipV="false" rot="0">
              <a:off x="223906" y="384725"/>
              <a:ext cx="288064" cy="323784"/>
            </a:xfrm>
            <a:custGeom>
              <a:avLst/>
              <a:gdLst/>
              <a:ahLst/>
              <a:cxnLst/>
              <a:rect r="r" b="b" t="t" l="l"/>
              <a:pathLst>
                <a:path h="323784" w="288064">
                  <a:moveTo>
                    <a:pt x="0" y="0"/>
                  </a:moveTo>
                  <a:lnTo>
                    <a:pt x="288065" y="0"/>
                  </a:lnTo>
                  <a:lnTo>
                    <a:pt x="288065" y="323785"/>
                  </a:lnTo>
                  <a:lnTo>
                    <a:pt x="0" y="323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 rot="0">
              <a:off x="690741" y="200984"/>
              <a:ext cx="1541125" cy="70079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012"/>
                </a:lnSpc>
              </a:pPr>
              <a:r>
                <a:rPr lang="en-US" sz="1829" b="true">
                  <a:solidFill>
                    <a:srgbClr val="FFFFFF"/>
                  </a:solidFill>
                  <a:latin typeface="Inter Semi-Bold"/>
                  <a:ea typeface="Inter Semi-Bold"/>
                  <a:cs typeface="Inter Semi-Bold"/>
                  <a:sym typeface="Inter Semi-Bold"/>
                </a:rPr>
                <a:t>Income Pressure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14898278" y="2778508"/>
            <a:ext cx="2178788" cy="901488"/>
            <a:chOff x="0" y="0"/>
            <a:chExt cx="2905051" cy="1201984"/>
          </a:xfrm>
        </p:grpSpPr>
        <p:grpSp>
          <p:nvGrpSpPr>
            <p:cNvPr name="Group 39" id="39"/>
            <p:cNvGrpSpPr/>
            <p:nvPr/>
          </p:nvGrpSpPr>
          <p:grpSpPr>
            <a:xfrm rot="0">
              <a:off x="0" y="0"/>
              <a:ext cx="2905051" cy="1201984"/>
              <a:chOff x="0" y="0"/>
              <a:chExt cx="815315" cy="337342"/>
            </a:xfrm>
          </p:grpSpPr>
          <p:sp>
            <p:nvSpPr>
              <p:cNvPr name="Freeform 40" id="40"/>
              <p:cNvSpPr/>
              <p:nvPr/>
            </p:nvSpPr>
            <p:spPr>
              <a:xfrm flipH="false" flipV="false" rot="0">
                <a:off x="0" y="0"/>
                <a:ext cx="815315" cy="337342"/>
              </a:xfrm>
              <a:custGeom>
                <a:avLst/>
                <a:gdLst/>
                <a:ahLst/>
                <a:cxnLst/>
                <a:rect r="r" b="b" t="t" l="l"/>
                <a:pathLst>
                  <a:path h="337342" w="815315">
                    <a:moveTo>
                      <a:pt x="87532" y="0"/>
                    </a:moveTo>
                    <a:lnTo>
                      <a:pt x="727784" y="0"/>
                    </a:lnTo>
                    <a:cubicBezTo>
                      <a:pt x="750998" y="0"/>
                      <a:pt x="773262" y="9222"/>
                      <a:pt x="789678" y="25637"/>
                    </a:cubicBezTo>
                    <a:cubicBezTo>
                      <a:pt x="806093" y="42053"/>
                      <a:pt x="815315" y="64317"/>
                      <a:pt x="815315" y="87532"/>
                    </a:cubicBezTo>
                    <a:lnTo>
                      <a:pt x="815315" y="249810"/>
                    </a:lnTo>
                    <a:cubicBezTo>
                      <a:pt x="815315" y="273025"/>
                      <a:pt x="806093" y="295289"/>
                      <a:pt x="789678" y="311705"/>
                    </a:cubicBezTo>
                    <a:cubicBezTo>
                      <a:pt x="773262" y="328120"/>
                      <a:pt x="750998" y="337342"/>
                      <a:pt x="727784" y="337342"/>
                    </a:cubicBezTo>
                    <a:lnTo>
                      <a:pt x="87532" y="337342"/>
                    </a:lnTo>
                    <a:cubicBezTo>
                      <a:pt x="64317" y="337342"/>
                      <a:pt x="42053" y="328120"/>
                      <a:pt x="25637" y="311705"/>
                    </a:cubicBezTo>
                    <a:cubicBezTo>
                      <a:pt x="9222" y="295289"/>
                      <a:pt x="0" y="273025"/>
                      <a:pt x="0" y="249810"/>
                    </a:cubicBezTo>
                    <a:lnTo>
                      <a:pt x="0" y="87532"/>
                    </a:lnTo>
                    <a:cubicBezTo>
                      <a:pt x="0" y="64317"/>
                      <a:pt x="9222" y="42053"/>
                      <a:pt x="25637" y="25637"/>
                    </a:cubicBezTo>
                    <a:cubicBezTo>
                      <a:pt x="42053" y="9222"/>
                      <a:pt x="64317" y="0"/>
                      <a:pt x="87532" y="0"/>
                    </a:cubicBezTo>
                    <a:close/>
                  </a:path>
                </a:pathLst>
              </a:custGeom>
              <a:gradFill rotWithShape="true">
                <a:gsLst>
                  <a:gs pos="0">
                    <a:srgbClr val="A3B18A">
                      <a:alpha val="4000"/>
                    </a:srgbClr>
                  </a:gs>
                  <a:gs pos="100000">
                    <a:srgbClr val="F4F1ED">
                      <a:alpha val="31600"/>
                    </a:srgbClr>
                  </a:gs>
                </a:gsLst>
                <a:lin ang="2700000"/>
              </a:gradFill>
              <a:ln w="38100" cap="rnd">
                <a:gradFill>
                  <a:gsLst>
                    <a:gs pos="0">
                      <a:srgbClr val="FFFFFF">
                        <a:alpha val="80000"/>
                      </a:srgbClr>
                    </a:gs>
                    <a:gs pos="25000">
                      <a:srgbClr val="9B9A9A">
                        <a:alpha val="80000"/>
                      </a:srgbClr>
                    </a:gs>
                    <a:gs pos="50000">
                      <a:srgbClr val="FFFFFF">
                        <a:alpha val="80000"/>
                      </a:srgbClr>
                    </a:gs>
                    <a:gs pos="75000">
                      <a:srgbClr val="9C9B9B">
                        <a:alpha val="80000"/>
                      </a:srgbClr>
                    </a:gs>
                    <a:gs pos="100000">
                      <a:srgbClr val="FFFFFF">
                        <a:alpha val="80000"/>
                      </a:srgbClr>
                    </a:gs>
                  </a:gsLst>
                  <a:lin ang="2700000"/>
                </a:gradFill>
                <a:prstDash val="solid"/>
                <a:round/>
              </a:ln>
            </p:spPr>
          </p:sp>
          <p:sp>
            <p:nvSpPr>
              <p:cNvPr name="TextBox 41" id="41"/>
              <p:cNvSpPr txBox="true"/>
              <p:nvPr/>
            </p:nvSpPr>
            <p:spPr>
              <a:xfrm>
                <a:off x="0" y="-104775"/>
                <a:ext cx="815315" cy="44211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3528"/>
                  </a:lnSpc>
                  <a:spcBef>
                    <a:spcPct val="0"/>
                  </a:spcBef>
                </a:pPr>
              </a:p>
            </p:txBody>
          </p:sp>
        </p:grpSp>
        <p:sp>
          <p:nvSpPr>
            <p:cNvPr name="Freeform 42" id="42"/>
            <p:cNvSpPr/>
            <p:nvPr/>
          </p:nvSpPr>
          <p:spPr>
            <a:xfrm flipH="false" flipV="false" rot="0">
              <a:off x="223906" y="439100"/>
              <a:ext cx="288064" cy="323784"/>
            </a:xfrm>
            <a:custGeom>
              <a:avLst/>
              <a:gdLst/>
              <a:ahLst/>
              <a:cxnLst/>
              <a:rect r="r" b="b" t="t" l="l"/>
              <a:pathLst>
                <a:path h="323784" w="288064">
                  <a:moveTo>
                    <a:pt x="0" y="0"/>
                  </a:moveTo>
                  <a:lnTo>
                    <a:pt x="288065" y="0"/>
                  </a:lnTo>
                  <a:lnTo>
                    <a:pt x="288065" y="323784"/>
                  </a:lnTo>
                  <a:lnTo>
                    <a:pt x="0" y="32378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 rot="0">
              <a:off x="690741" y="255359"/>
              <a:ext cx="1945228" cy="70079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012"/>
                </a:lnSpc>
              </a:pPr>
              <a:r>
                <a:rPr lang="en-US" sz="1829" b="true">
                  <a:solidFill>
                    <a:srgbClr val="FFFFFF"/>
                  </a:solidFill>
                  <a:latin typeface="Inter Semi-Bold"/>
                  <a:ea typeface="Inter Semi-Bold"/>
                  <a:cs typeface="Inter Semi-Bold"/>
                  <a:sym typeface="Inter Semi-Bold"/>
                </a:rPr>
                <a:t>Early Tenure </a:t>
              </a:r>
            </a:p>
            <a:p>
              <a:pPr algn="l">
                <a:lnSpc>
                  <a:spcPts val="2012"/>
                </a:lnSpc>
              </a:pPr>
              <a:r>
                <a:rPr lang="en-US" sz="1829" b="true">
                  <a:solidFill>
                    <a:srgbClr val="FFFFFF"/>
                  </a:solidFill>
                  <a:latin typeface="Inter Semi-Bold"/>
                  <a:ea typeface="Inter Semi-Bold"/>
                  <a:cs typeface="Inter Semi-Bold"/>
                  <a:sym typeface="Inter Semi-Bold"/>
                </a:rPr>
                <a:t>Risk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14944536" y="5783340"/>
            <a:ext cx="2178788" cy="1026346"/>
            <a:chOff x="0" y="0"/>
            <a:chExt cx="2905051" cy="1368461"/>
          </a:xfrm>
        </p:grpSpPr>
        <p:grpSp>
          <p:nvGrpSpPr>
            <p:cNvPr name="Group 45" id="45"/>
            <p:cNvGrpSpPr/>
            <p:nvPr/>
          </p:nvGrpSpPr>
          <p:grpSpPr>
            <a:xfrm rot="0">
              <a:off x="0" y="0"/>
              <a:ext cx="2905051" cy="1368461"/>
              <a:chOff x="0" y="0"/>
              <a:chExt cx="815315" cy="384065"/>
            </a:xfrm>
          </p:grpSpPr>
          <p:sp>
            <p:nvSpPr>
              <p:cNvPr name="Freeform 46" id="46"/>
              <p:cNvSpPr/>
              <p:nvPr/>
            </p:nvSpPr>
            <p:spPr>
              <a:xfrm flipH="false" flipV="false" rot="0">
                <a:off x="0" y="0"/>
                <a:ext cx="815315" cy="384065"/>
              </a:xfrm>
              <a:custGeom>
                <a:avLst/>
                <a:gdLst/>
                <a:ahLst/>
                <a:cxnLst/>
                <a:rect r="r" b="b" t="t" l="l"/>
                <a:pathLst>
                  <a:path h="384065" w="815315">
                    <a:moveTo>
                      <a:pt x="87532" y="0"/>
                    </a:moveTo>
                    <a:lnTo>
                      <a:pt x="727784" y="0"/>
                    </a:lnTo>
                    <a:cubicBezTo>
                      <a:pt x="750998" y="0"/>
                      <a:pt x="773262" y="9222"/>
                      <a:pt x="789678" y="25637"/>
                    </a:cubicBezTo>
                    <a:cubicBezTo>
                      <a:pt x="806093" y="42053"/>
                      <a:pt x="815315" y="64317"/>
                      <a:pt x="815315" y="87532"/>
                    </a:cubicBezTo>
                    <a:lnTo>
                      <a:pt x="815315" y="296533"/>
                    </a:lnTo>
                    <a:cubicBezTo>
                      <a:pt x="815315" y="319748"/>
                      <a:pt x="806093" y="342012"/>
                      <a:pt x="789678" y="358427"/>
                    </a:cubicBezTo>
                    <a:cubicBezTo>
                      <a:pt x="773262" y="374843"/>
                      <a:pt x="750998" y="384065"/>
                      <a:pt x="727784" y="384065"/>
                    </a:cubicBezTo>
                    <a:lnTo>
                      <a:pt x="87532" y="384065"/>
                    </a:lnTo>
                    <a:cubicBezTo>
                      <a:pt x="64317" y="384065"/>
                      <a:pt x="42053" y="374843"/>
                      <a:pt x="25637" y="358427"/>
                    </a:cubicBezTo>
                    <a:cubicBezTo>
                      <a:pt x="9222" y="342012"/>
                      <a:pt x="0" y="319748"/>
                      <a:pt x="0" y="296533"/>
                    </a:cubicBezTo>
                    <a:lnTo>
                      <a:pt x="0" y="87532"/>
                    </a:lnTo>
                    <a:cubicBezTo>
                      <a:pt x="0" y="64317"/>
                      <a:pt x="9222" y="42053"/>
                      <a:pt x="25637" y="25637"/>
                    </a:cubicBezTo>
                    <a:cubicBezTo>
                      <a:pt x="42053" y="9222"/>
                      <a:pt x="64317" y="0"/>
                      <a:pt x="87532" y="0"/>
                    </a:cubicBezTo>
                    <a:close/>
                  </a:path>
                </a:pathLst>
              </a:custGeom>
              <a:gradFill rotWithShape="true">
                <a:gsLst>
                  <a:gs pos="0">
                    <a:srgbClr val="A3B18A">
                      <a:alpha val="4000"/>
                    </a:srgbClr>
                  </a:gs>
                  <a:gs pos="100000">
                    <a:srgbClr val="F4F1ED">
                      <a:alpha val="31600"/>
                    </a:srgbClr>
                  </a:gs>
                </a:gsLst>
                <a:lin ang="2700000"/>
              </a:gradFill>
              <a:ln w="38100" cap="rnd">
                <a:gradFill>
                  <a:gsLst>
                    <a:gs pos="0">
                      <a:srgbClr val="FFFFFF">
                        <a:alpha val="80000"/>
                      </a:srgbClr>
                    </a:gs>
                    <a:gs pos="25000">
                      <a:srgbClr val="9B9A9A">
                        <a:alpha val="80000"/>
                      </a:srgbClr>
                    </a:gs>
                    <a:gs pos="50000">
                      <a:srgbClr val="FFFFFF">
                        <a:alpha val="80000"/>
                      </a:srgbClr>
                    </a:gs>
                    <a:gs pos="75000">
                      <a:srgbClr val="9C9B9B">
                        <a:alpha val="80000"/>
                      </a:srgbClr>
                    </a:gs>
                    <a:gs pos="100000">
                      <a:srgbClr val="FFFFFF">
                        <a:alpha val="80000"/>
                      </a:srgbClr>
                    </a:gs>
                  </a:gsLst>
                  <a:lin ang="2700000"/>
                </a:gradFill>
                <a:prstDash val="solid"/>
                <a:round/>
              </a:ln>
            </p:spPr>
          </p:sp>
          <p:sp>
            <p:nvSpPr>
              <p:cNvPr name="TextBox 47" id="47"/>
              <p:cNvSpPr txBox="true"/>
              <p:nvPr/>
            </p:nvSpPr>
            <p:spPr>
              <a:xfrm>
                <a:off x="0" y="-104775"/>
                <a:ext cx="815315" cy="48884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 marL="0" indent="0" lvl="0">
                  <a:lnSpc>
                    <a:spcPts val="3528"/>
                  </a:lnSpc>
                  <a:spcBef>
                    <a:spcPct val="0"/>
                  </a:spcBef>
                </a:pPr>
              </a:p>
            </p:txBody>
          </p:sp>
        </p:grpSp>
        <p:sp>
          <p:nvSpPr>
            <p:cNvPr name="Freeform 48" id="48"/>
            <p:cNvSpPr/>
            <p:nvPr/>
          </p:nvSpPr>
          <p:spPr>
            <a:xfrm flipH="false" flipV="false" rot="0">
              <a:off x="223906" y="522338"/>
              <a:ext cx="288064" cy="323784"/>
            </a:xfrm>
            <a:custGeom>
              <a:avLst/>
              <a:gdLst/>
              <a:ahLst/>
              <a:cxnLst/>
              <a:rect r="r" b="b" t="t" l="l"/>
              <a:pathLst>
                <a:path h="323784" w="288064">
                  <a:moveTo>
                    <a:pt x="0" y="0"/>
                  </a:moveTo>
                  <a:lnTo>
                    <a:pt x="288065" y="0"/>
                  </a:lnTo>
                  <a:lnTo>
                    <a:pt x="288065" y="323785"/>
                  </a:lnTo>
                  <a:lnTo>
                    <a:pt x="0" y="32378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 rot="0">
              <a:off x="690741" y="168765"/>
              <a:ext cx="2214309" cy="104045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2012"/>
                </a:lnSpc>
              </a:pPr>
              <a:r>
                <a:rPr lang="en-US" sz="1829" b="true">
                  <a:solidFill>
                    <a:srgbClr val="FFFFFF"/>
                  </a:solidFill>
                  <a:latin typeface="Inter Semi-Bold"/>
                  <a:ea typeface="Inter Semi-Bold"/>
                  <a:cs typeface="Inter Semi-Bold"/>
                  <a:sym typeface="Inter Semi-Bold"/>
                </a:rPr>
                <a:t>Role &amp; Department Impact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gradFill rotWithShape="true">
          <a:gsLst>
            <a:gs pos="0">
              <a:srgbClr val="5C7257">
                <a:alpha val="100000"/>
              </a:srgbClr>
            </a:gs>
            <a:gs pos="50000">
              <a:srgbClr val="2F472C">
                <a:alpha val="100000"/>
              </a:srgbClr>
            </a:gs>
            <a:gs pos="100000">
              <a:srgbClr val="1F371C">
                <a:alpha val="100000"/>
              </a:srgbClr>
            </a:gs>
          </a:gsLst>
          <a:path path="circle">
            <a:fillToRect l="0" r="100000" t="0" b="100000"/>
          </a:path>
          <a:tileRect r="0" l="-100000" b="0" t="-1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161212" y="2451851"/>
            <a:ext cx="5098088" cy="3347034"/>
            <a:chOff x="0" y="0"/>
            <a:chExt cx="1682742" cy="110476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682742" cy="1104766"/>
            </a:xfrm>
            <a:custGeom>
              <a:avLst/>
              <a:gdLst/>
              <a:ahLst/>
              <a:cxnLst/>
              <a:rect r="r" b="b" t="t" l="l"/>
              <a:pathLst>
                <a:path h="1104766" w="1682742">
                  <a:moveTo>
                    <a:pt x="30372" y="0"/>
                  </a:moveTo>
                  <a:lnTo>
                    <a:pt x="1652370" y="0"/>
                  </a:lnTo>
                  <a:cubicBezTo>
                    <a:pt x="1660425" y="0"/>
                    <a:pt x="1668150" y="3200"/>
                    <a:pt x="1673846" y="8896"/>
                  </a:cubicBezTo>
                  <a:cubicBezTo>
                    <a:pt x="1679542" y="14592"/>
                    <a:pt x="1682742" y="22317"/>
                    <a:pt x="1682742" y="30372"/>
                  </a:cubicBezTo>
                  <a:lnTo>
                    <a:pt x="1682742" y="1074394"/>
                  </a:lnTo>
                  <a:cubicBezTo>
                    <a:pt x="1682742" y="1082449"/>
                    <a:pt x="1679542" y="1090174"/>
                    <a:pt x="1673846" y="1095870"/>
                  </a:cubicBezTo>
                  <a:cubicBezTo>
                    <a:pt x="1668150" y="1101566"/>
                    <a:pt x="1660425" y="1104766"/>
                    <a:pt x="1652370" y="1104766"/>
                  </a:cubicBezTo>
                  <a:lnTo>
                    <a:pt x="30372" y="1104766"/>
                  </a:lnTo>
                  <a:cubicBezTo>
                    <a:pt x="22317" y="1104766"/>
                    <a:pt x="14592" y="1101566"/>
                    <a:pt x="8896" y="1095870"/>
                  </a:cubicBezTo>
                  <a:cubicBezTo>
                    <a:pt x="3200" y="1090174"/>
                    <a:pt x="0" y="1082449"/>
                    <a:pt x="0" y="1074394"/>
                  </a:cubicBezTo>
                  <a:lnTo>
                    <a:pt x="0" y="30372"/>
                  </a:lnTo>
                  <a:cubicBezTo>
                    <a:pt x="0" y="22317"/>
                    <a:pt x="3200" y="14592"/>
                    <a:pt x="8896" y="8896"/>
                  </a:cubicBezTo>
                  <a:cubicBezTo>
                    <a:pt x="14592" y="3200"/>
                    <a:pt x="22317" y="0"/>
                    <a:pt x="30372" y="0"/>
                  </a:cubicBezTo>
                  <a:close/>
                </a:path>
              </a:pathLst>
            </a:custGeom>
            <a:ln w="38100" cap="sq">
              <a:gradFill>
                <a:gsLst>
                  <a:gs pos="0">
                    <a:srgbClr val="FFFFFF">
                      <a:alpha val="80000"/>
                    </a:srgbClr>
                  </a:gs>
                  <a:gs pos="25000">
                    <a:srgbClr val="9B9A9A">
                      <a:alpha val="80000"/>
                    </a:srgbClr>
                  </a:gs>
                  <a:gs pos="50000">
                    <a:srgbClr val="FFFFFF">
                      <a:alpha val="80000"/>
                    </a:srgbClr>
                  </a:gs>
                  <a:gs pos="75000">
                    <a:srgbClr val="9C9B9B">
                      <a:alpha val="80000"/>
                    </a:srgbClr>
                  </a:gs>
                  <a:gs pos="100000">
                    <a:srgbClr val="FFFFFF">
                      <a:alpha val="80000"/>
                    </a:srgbClr>
                  </a:gs>
                </a:gsLst>
                <a:lin ang="2700000"/>
              </a:gra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0" y="-104775"/>
              <a:ext cx="1682742" cy="120954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528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12609830" y="2862585"/>
            <a:ext cx="306964" cy="345028"/>
          </a:xfrm>
          <a:custGeom>
            <a:avLst/>
            <a:gdLst/>
            <a:ahLst/>
            <a:cxnLst/>
            <a:rect r="r" b="b" t="t" l="l"/>
            <a:pathLst>
              <a:path h="345028" w="306964">
                <a:moveTo>
                  <a:pt x="0" y="0"/>
                </a:moveTo>
                <a:lnTo>
                  <a:pt x="306964" y="0"/>
                </a:lnTo>
                <a:lnTo>
                  <a:pt x="306964" y="345028"/>
                </a:lnTo>
                <a:lnTo>
                  <a:pt x="0" y="34502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12161212" y="5989374"/>
            <a:ext cx="5098088" cy="3347034"/>
            <a:chOff x="0" y="0"/>
            <a:chExt cx="1682742" cy="110476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682742" cy="1104766"/>
            </a:xfrm>
            <a:custGeom>
              <a:avLst/>
              <a:gdLst/>
              <a:ahLst/>
              <a:cxnLst/>
              <a:rect r="r" b="b" t="t" l="l"/>
              <a:pathLst>
                <a:path h="1104766" w="1682742">
                  <a:moveTo>
                    <a:pt x="30372" y="0"/>
                  </a:moveTo>
                  <a:lnTo>
                    <a:pt x="1652370" y="0"/>
                  </a:lnTo>
                  <a:cubicBezTo>
                    <a:pt x="1660425" y="0"/>
                    <a:pt x="1668150" y="3200"/>
                    <a:pt x="1673846" y="8896"/>
                  </a:cubicBezTo>
                  <a:cubicBezTo>
                    <a:pt x="1679542" y="14592"/>
                    <a:pt x="1682742" y="22317"/>
                    <a:pt x="1682742" y="30372"/>
                  </a:cubicBezTo>
                  <a:lnTo>
                    <a:pt x="1682742" y="1074394"/>
                  </a:lnTo>
                  <a:cubicBezTo>
                    <a:pt x="1682742" y="1082449"/>
                    <a:pt x="1679542" y="1090174"/>
                    <a:pt x="1673846" y="1095870"/>
                  </a:cubicBezTo>
                  <a:cubicBezTo>
                    <a:pt x="1668150" y="1101566"/>
                    <a:pt x="1660425" y="1104766"/>
                    <a:pt x="1652370" y="1104766"/>
                  </a:cubicBezTo>
                  <a:lnTo>
                    <a:pt x="30372" y="1104766"/>
                  </a:lnTo>
                  <a:cubicBezTo>
                    <a:pt x="22317" y="1104766"/>
                    <a:pt x="14592" y="1101566"/>
                    <a:pt x="8896" y="1095870"/>
                  </a:cubicBezTo>
                  <a:cubicBezTo>
                    <a:pt x="3200" y="1090174"/>
                    <a:pt x="0" y="1082449"/>
                    <a:pt x="0" y="1074394"/>
                  </a:cubicBezTo>
                  <a:lnTo>
                    <a:pt x="0" y="30372"/>
                  </a:lnTo>
                  <a:cubicBezTo>
                    <a:pt x="0" y="22317"/>
                    <a:pt x="3200" y="14592"/>
                    <a:pt x="8896" y="8896"/>
                  </a:cubicBezTo>
                  <a:cubicBezTo>
                    <a:pt x="14592" y="3200"/>
                    <a:pt x="22317" y="0"/>
                    <a:pt x="30372" y="0"/>
                  </a:cubicBezTo>
                  <a:close/>
                </a:path>
              </a:pathLst>
            </a:custGeom>
            <a:ln w="38100" cap="sq">
              <a:gradFill>
                <a:gsLst>
                  <a:gs pos="0">
                    <a:srgbClr val="FFFFFF">
                      <a:alpha val="80000"/>
                    </a:srgbClr>
                  </a:gs>
                  <a:gs pos="25000">
                    <a:srgbClr val="9B9A9A">
                      <a:alpha val="80000"/>
                    </a:srgbClr>
                  </a:gs>
                  <a:gs pos="50000">
                    <a:srgbClr val="FFFFFF">
                      <a:alpha val="80000"/>
                    </a:srgbClr>
                  </a:gs>
                  <a:gs pos="75000">
                    <a:srgbClr val="9C9B9B">
                      <a:alpha val="80000"/>
                    </a:srgbClr>
                  </a:gs>
                  <a:gs pos="100000">
                    <a:srgbClr val="FFFFFF">
                      <a:alpha val="80000"/>
                    </a:srgbClr>
                  </a:gs>
                </a:gsLst>
                <a:lin ang="2700000"/>
              </a:gradFill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0" y="-104775"/>
              <a:ext cx="1682742" cy="120954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528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9" id="9"/>
          <p:cNvSpPr/>
          <p:nvPr/>
        </p:nvSpPr>
        <p:spPr>
          <a:xfrm flipH="false" flipV="false" rot="0">
            <a:off x="12609830" y="6337036"/>
            <a:ext cx="306964" cy="345028"/>
          </a:xfrm>
          <a:custGeom>
            <a:avLst/>
            <a:gdLst/>
            <a:ahLst/>
            <a:cxnLst/>
            <a:rect r="r" b="b" t="t" l="l"/>
            <a:pathLst>
              <a:path h="345028" w="306964">
                <a:moveTo>
                  <a:pt x="0" y="0"/>
                </a:moveTo>
                <a:lnTo>
                  <a:pt x="306964" y="0"/>
                </a:lnTo>
                <a:lnTo>
                  <a:pt x="306964" y="345028"/>
                </a:lnTo>
                <a:lnTo>
                  <a:pt x="0" y="34502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0" id="10"/>
          <p:cNvGrpSpPr/>
          <p:nvPr/>
        </p:nvGrpSpPr>
        <p:grpSpPr>
          <a:xfrm rot="0">
            <a:off x="1028700" y="2451851"/>
            <a:ext cx="5098088" cy="3347034"/>
            <a:chOff x="0" y="0"/>
            <a:chExt cx="1682742" cy="110476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682742" cy="1104766"/>
            </a:xfrm>
            <a:custGeom>
              <a:avLst/>
              <a:gdLst/>
              <a:ahLst/>
              <a:cxnLst/>
              <a:rect r="r" b="b" t="t" l="l"/>
              <a:pathLst>
                <a:path h="1104766" w="1682742">
                  <a:moveTo>
                    <a:pt x="30372" y="0"/>
                  </a:moveTo>
                  <a:lnTo>
                    <a:pt x="1652370" y="0"/>
                  </a:lnTo>
                  <a:cubicBezTo>
                    <a:pt x="1660425" y="0"/>
                    <a:pt x="1668150" y="3200"/>
                    <a:pt x="1673846" y="8896"/>
                  </a:cubicBezTo>
                  <a:cubicBezTo>
                    <a:pt x="1679542" y="14592"/>
                    <a:pt x="1682742" y="22317"/>
                    <a:pt x="1682742" y="30372"/>
                  </a:cubicBezTo>
                  <a:lnTo>
                    <a:pt x="1682742" y="1074394"/>
                  </a:lnTo>
                  <a:cubicBezTo>
                    <a:pt x="1682742" y="1082449"/>
                    <a:pt x="1679542" y="1090174"/>
                    <a:pt x="1673846" y="1095870"/>
                  </a:cubicBezTo>
                  <a:cubicBezTo>
                    <a:pt x="1668150" y="1101566"/>
                    <a:pt x="1660425" y="1104766"/>
                    <a:pt x="1652370" y="1104766"/>
                  </a:cubicBezTo>
                  <a:lnTo>
                    <a:pt x="30372" y="1104766"/>
                  </a:lnTo>
                  <a:cubicBezTo>
                    <a:pt x="22317" y="1104766"/>
                    <a:pt x="14592" y="1101566"/>
                    <a:pt x="8896" y="1095870"/>
                  </a:cubicBezTo>
                  <a:cubicBezTo>
                    <a:pt x="3200" y="1090174"/>
                    <a:pt x="0" y="1082449"/>
                    <a:pt x="0" y="1074394"/>
                  </a:cubicBezTo>
                  <a:lnTo>
                    <a:pt x="0" y="30372"/>
                  </a:lnTo>
                  <a:cubicBezTo>
                    <a:pt x="0" y="22317"/>
                    <a:pt x="3200" y="14592"/>
                    <a:pt x="8896" y="8896"/>
                  </a:cubicBezTo>
                  <a:cubicBezTo>
                    <a:pt x="14592" y="3200"/>
                    <a:pt x="22317" y="0"/>
                    <a:pt x="30372" y="0"/>
                  </a:cubicBezTo>
                  <a:close/>
                </a:path>
              </a:pathLst>
            </a:custGeom>
            <a:ln w="38100" cap="sq">
              <a:gradFill>
                <a:gsLst>
                  <a:gs pos="0">
                    <a:srgbClr val="FFFFFF">
                      <a:alpha val="80000"/>
                    </a:srgbClr>
                  </a:gs>
                  <a:gs pos="25000">
                    <a:srgbClr val="9B9A9A">
                      <a:alpha val="80000"/>
                    </a:srgbClr>
                  </a:gs>
                  <a:gs pos="50000">
                    <a:srgbClr val="FFFFFF">
                      <a:alpha val="80000"/>
                    </a:srgbClr>
                  </a:gs>
                  <a:gs pos="75000">
                    <a:srgbClr val="9C9B9B">
                      <a:alpha val="80000"/>
                    </a:srgbClr>
                  </a:gs>
                  <a:gs pos="100000">
                    <a:srgbClr val="FFFFFF">
                      <a:alpha val="80000"/>
                    </a:srgbClr>
                  </a:gs>
                </a:gsLst>
                <a:lin ang="2700000"/>
              </a:gradFill>
              <a:prstDash val="solid"/>
              <a:miter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104775"/>
              <a:ext cx="1682742" cy="120954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528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3" id="13"/>
          <p:cNvSpPr/>
          <p:nvPr/>
        </p:nvSpPr>
        <p:spPr>
          <a:xfrm flipH="false" flipV="false" rot="0">
            <a:off x="1477318" y="2862585"/>
            <a:ext cx="306964" cy="345028"/>
          </a:xfrm>
          <a:custGeom>
            <a:avLst/>
            <a:gdLst/>
            <a:ahLst/>
            <a:cxnLst/>
            <a:rect r="r" b="b" t="t" l="l"/>
            <a:pathLst>
              <a:path h="345028" w="306964">
                <a:moveTo>
                  <a:pt x="0" y="0"/>
                </a:moveTo>
                <a:lnTo>
                  <a:pt x="306965" y="0"/>
                </a:lnTo>
                <a:lnTo>
                  <a:pt x="306965" y="345028"/>
                </a:lnTo>
                <a:lnTo>
                  <a:pt x="0" y="34502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4" id="14"/>
          <p:cNvGrpSpPr/>
          <p:nvPr/>
        </p:nvGrpSpPr>
        <p:grpSpPr>
          <a:xfrm rot="0">
            <a:off x="1028700" y="5989374"/>
            <a:ext cx="5098088" cy="3347034"/>
            <a:chOff x="0" y="0"/>
            <a:chExt cx="1682742" cy="110476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682742" cy="1104766"/>
            </a:xfrm>
            <a:custGeom>
              <a:avLst/>
              <a:gdLst/>
              <a:ahLst/>
              <a:cxnLst/>
              <a:rect r="r" b="b" t="t" l="l"/>
              <a:pathLst>
                <a:path h="1104766" w="1682742">
                  <a:moveTo>
                    <a:pt x="30372" y="0"/>
                  </a:moveTo>
                  <a:lnTo>
                    <a:pt x="1652370" y="0"/>
                  </a:lnTo>
                  <a:cubicBezTo>
                    <a:pt x="1660425" y="0"/>
                    <a:pt x="1668150" y="3200"/>
                    <a:pt x="1673846" y="8896"/>
                  </a:cubicBezTo>
                  <a:cubicBezTo>
                    <a:pt x="1679542" y="14592"/>
                    <a:pt x="1682742" y="22317"/>
                    <a:pt x="1682742" y="30372"/>
                  </a:cubicBezTo>
                  <a:lnTo>
                    <a:pt x="1682742" y="1074394"/>
                  </a:lnTo>
                  <a:cubicBezTo>
                    <a:pt x="1682742" y="1082449"/>
                    <a:pt x="1679542" y="1090174"/>
                    <a:pt x="1673846" y="1095870"/>
                  </a:cubicBezTo>
                  <a:cubicBezTo>
                    <a:pt x="1668150" y="1101566"/>
                    <a:pt x="1660425" y="1104766"/>
                    <a:pt x="1652370" y="1104766"/>
                  </a:cubicBezTo>
                  <a:lnTo>
                    <a:pt x="30372" y="1104766"/>
                  </a:lnTo>
                  <a:cubicBezTo>
                    <a:pt x="22317" y="1104766"/>
                    <a:pt x="14592" y="1101566"/>
                    <a:pt x="8896" y="1095870"/>
                  </a:cubicBezTo>
                  <a:cubicBezTo>
                    <a:pt x="3200" y="1090174"/>
                    <a:pt x="0" y="1082449"/>
                    <a:pt x="0" y="1074394"/>
                  </a:cubicBezTo>
                  <a:lnTo>
                    <a:pt x="0" y="30372"/>
                  </a:lnTo>
                  <a:cubicBezTo>
                    <a:pt x="0" y="22317"/>
                    <a:pt x="3200" y="14592"/>
                    <a:pt x="8896" y="8896"/>
                  </a:cubicBezTo>
                  <a:cubicBezTo>
                    <a:pt x="14592" y="3200"/>
                    <a:pt x="22317" y="0"/>
                    <a:pt x="30372" y="0"/>
                  </a:cubicBezTo>
                  <a:close/>
                </a:path>
              </a:pathLst>
            </a:custGeom>
            <a:ln w="38100" cap="sq">
              <a:gradFill>
                <a:gsLst>
                  <a:gs pos="0">
                    <a:srgbClr val="FFFFFF">
                      <a:alpha val="80000"/>
                    </a:srgbClr>
                  </a:gs>
                  <a:gs pos="25000">
                    <a:srgbClr val="9B9A9A">
                      <a:alpha val="80000"/>
                    </a:srgbClr>
                  </a:gs>
                  <a:gs pos="50000">
                    <a:srgbClr val="FFFFFF">
                      <a:alpha val="80000"/>
                    </a:srgbClr>
                  </a:gs>
                  <a:gs pos="75000">
                    <a:srgbClr val="9C9B9B">
                      <a:alpha val="80000"/>
                    </a:srgbClr>
                  </a:gs>
                  <a:gs pos="100000">
                    <a:srgbClr val="FFFFFF">
                      <a:alpha val="80000"/>
                    </a:srgbClr>
                  </a:gs>
                </a:gsLst>
                <a:lin ang="2700000"/>
              </a:gradFill>
              <a:prstDash val="solid"/>
              <a:miter/>
            </a:ln>
          </p:spPr>
        </p:sp>
        <p:sp>
          <p:nvSpPr>
            <p:cNvPr name="TextBox 16" id="16"/>
            <p:cNvSpPr txBox="true"/>
            <p:nvPr/>
          </p:nvSpPr>
          <p:spPr>
            <a:xfrm>
              <a:off x="0" y="-104775"/>
              <a:ext cx="1682742" cy="1209541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 marL="0" indent="0" lvl="0">
                <a:lnSpc>
                  <a:spcPts val="3528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7" id="17"/>
          <p:cNvSpPr/>
          <p:nvPr/>
        </p:nvSpPr>
        <p:spPr>
          <a:xfrm flipH="false" flipV="false" rot="0">
            <a:off x="1477318" y="6400107"/>
            <a:ext cx="306964" cy="345028"/>
          </a:xfrm>
          <a:custGeom>
            <a:avLst/>
            <a:gdLst/>
            <a:ahLst/>
            <a:cxnLst/>
            <a:rect r="r" b="b" t="t" l="l"/>
            <a:pathLst>
              <a:path h="345028" w="306964">
                <a:moveTo>
                  <a:pt x="0" y="0"/>
                </a:moveTo>
                <a:lnTo>
                  <a:pt x="306965" y="0"/>
                </a:lnTo>
                <a:lnTo>
                  <a:pt x="306965" y="345028"/>
                </a:lnTo>
                <a:lnTo>
                  <a:pt x="0" y="34502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6317288" y="2500152"/>
            <a:ext cx="5683816" cy="3346347"/>
          </a:xfrm>
          <a:custGeom>
            <a:avLst/>
            <a:gdLst/>
            <a:ahLst/>
            <a:cxnLst/>
            <a:rect r="r" b="b" t="t" l="l"/>
            <a:pathLst>
              <a:path h="3346347" w="5683816">
                <a:moveTo>
                  <a:pt x="0" y="0"/>
                </a:moveTo>
                <a:lnTo>
                  <a:pt x="5683816" y="0"/>
                </a:lnTo>
                <a:lnTo>
                  <a:pt x="5683816" y="3346347"/>
                </a:lnTo>
                <a:lnTo>
                  <a:pt x="0" y="334634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90000"/>
            </a:blip>
            <a:stretch>
              <a:fillRect l="0" t="0" r="0" b="0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0">
            <a:off x="928531" y="896101"/>
            <a:ext cx="16430938" cy="993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7699"/>
              </a:lnSpc>
            </a:pPr>
            <a:r>
              <a:rPr lang="en-US" sz="6999" spc="-244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What Ac</a:t>
            </a:r>
            <a:r>
              <a:rPr lang="en-US" sz="6999" spc="-244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tually Drives Employee Attrition?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2609830" y="3560499"/>
            <a:ext cx="4200852" cy="1866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8618" indent="-194309" lvl="1">
              <a:lnSpc>
                <a:spcPts val="2159"/>
              </a:lnSpc>
              <a:buFont typeface="Arial"/>
              <a:buChar char="•"/>
            </a:pPr>
            <a:r>
              <a:rPr lang="en-US" sz="179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Total Att</a:t>
            </a:r>
            <a:r>
              <a:rPr lang="en-US" sz="1799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ritio</a:t>
            </a:r>
            <a:r>
              <a:rPr lang="en-US" sz="1799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n: 237 / 1,470 (~16%)</a:t>
            </a:r>
          </a:p>
          <a:p>
            <a:pPr algn="l" marL="388618" indent="-194309" lvl="1">
              <a:lnSpc>
                <a:spcPts val="2159"/>
              </a:lnSpc>
              <a:buFont typeface="Arial"/>
              <a:buChar char="•"/>
            </a:pPr>
            <a:r>
              <a:rPr lang="en-US" sz="1799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E</a:t>
            </a:r>
            <a:r>
              <a:rPr lang="en-US" sz="1799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arl</a:t>
            </a:r>
            <a:r>
              <a:rPr lang="en-US" sz="1799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y</a:t>
            </a:r>
            <a:r>
              <a:rPr lang="en-US" sz="1799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799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Tenure (0–5 ye</a:t>
            </a:r>
            <a:r>
              <a:rPr lang="en-US" sz="1799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</a:t>
            </a:r>
            <a:r>
              <a:rPr lang="en-US" sz="1799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rs): ~200 exi</a:t>
            </a:r>
            <a:r>
              <a:rPr lang="en-US" sz="1799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</a:t>
            </a:r>
            <a:r>
              <a:rPr lang="en-US" sz="1799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s (~18%)</a:t>
            </a:r>
          </a:p>
          <a:p>
            <a:pPr algn="l" marL="388618" indent="-194309" lvl="1">
              <a:lnSpc>
                <a:spcPts val="2159"/>
              </a:lnSpc>
              <a:buFont typeface="Arial"/>
              <a:buChar char="•"/>
            </a:pPr>
            <a:r>
              <a:rPr lang="en-US" sz="1799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Ov</a:t>
            </a:r>
            <a:r>
              <a:rPr lang="en-US" sz="1799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e</a:t>
            </a:r>
            <a:r>
              <a:rPr lang="en-US" sz="1799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rtime Attrition: ~30.5% vs ~10.4% (≈3× increase)</a:t>
            </a:r>
          </a:p>
          <a:p>
            <a:pPr algn="l" marL="388618" indent="-194309" lvl="1">
              <a:lnSpc>
                <a:spcPts val="2159"/>
              </a:lnSpc>
              <a:buFont typeface="Arial"/>
              <a:buChar char="•"/>
            </a:pPr>
            <a:r>
              <a:rPr lang="en-US" sz="1799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High-risk group: &lt;10% workforce driving a major share of exits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3107294" y="2685214"/>
            <a:ext cx="3703387" cy="728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59"/>
              </a:lnSpc>
              <a:spcBef>
                <a:spcPct val="0"/>
              </a:spcBef>
            </a:pPr>
            <a:r>
              <a:rPr lang="en-US" b="true" sz="2599">
                <a:solidFill>
                  <a:srgbClr val="FFFFFF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Qu</a:t>
            </a:r>
            <a:r>
              <a:rPr lang="en-US" b="true" sz="2599" strike="noStrike" u="none">
                <a:solidFill>
                  <a:srgbClr val="FFFFFF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antified </a:t>
            </a:r>
            <a:r>
              <a:rPr lang="en-US" b="true" sz="2599" strike="noStrike" u="none">
                <a:solidFill>
                  <a:srgbClr val="FFFFFF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C</a:t>
            </a:r>
            <a:r>
              <a:rPr lang="en-US" b="true" sz="2599" strike="noStrike" u="none">
                <a:solidFill>
                  <a:srgbClr val="FFFFFF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oncl</a:t>
            </a:r>
            <a:r>
              <a:rPr lang="en-US" b="true" sz="2599" strike="noStrike" u="none">
                <a:solidFill>
                  <a:srgbClr val="FFFFFF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usions: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2609830" y="6825053"/>
            <a:ext cx="4200852" cy="2400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8618" indent="-194309" lvl="1">
              <a:lnSpc>
                <a:spcPts val="2159"/>
              </a:lnSpc>
              <a:buFont typeface="Arial"/>
              <a:buChar char="•"/>
            </a:pPr>
            <a:r>
              <a:rPr lang="en-US" sz="179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Reducing overtime exposure → attrition drops from ~16% to ~12–13%</a:t>
            </a:r>
          </a:p>
          <a:p>
            <a:pPr algn="l" marL="388618" indent="-194309" lvl="1">
              <a:lnSpc>
                <a:spcPts val="2159"/>
              </a:lnSpc>
              <a:buFont typeface="Arial"/>
              <a:buChar char="•"/>
            </a:pPr>
            <a:r>
              <a:rPr lang="en-US" sz="179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Imp</a:t>
            </a:r>
            <a:r>
              <a:rPr lang="en-US" sz="1799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rov</a:t>
            </a:r>
            <a:r>
              <a:rPr lang="en-US" sz="1799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ing income </a:t>
            </a:r>
            <a:r>
              <a:rPr lang="en-US" sz="1799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and work conditions → reduces attrition by ~10–15% within risk groups</a:t>
            </a:r>
          </a:p>
          <a:p>
            <a:pPr algn="l" marL="388618" indent="-194309" lvl="1">
              <a:lnSpc>
                <a:spcPts val="2159"/>
              </a:lnSpc>
              <a:buFont typeface="Arial"/>
              <a:buChar char="•"/>
            </a:pPr>
            <a:r>
              <a:rPr lang="en-US" sz="1799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Targeting ~130 high-risk empl</a:t>
            </a:r>
            <a:r>
              <a:rPr lang="en-US" sz="1799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oyees</a:t>
            </a:r>
            <a:r>
              <a:rPr lang="en-US" sz="1799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799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yields m</a:t>
            </a:r>
            <a:r>
              <a:rPr lang="en-US" sz="1799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</a:t>
            </a:r>
            <a:r>
              <a:rPr lang="en-US" sz="1799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ximum impac</a:t>
            </a:r>
            <a:r>
              <a:rPr lang="en-US" sz="1799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</a:t>
            </a:r>
            <a:r>
              <a:rPr lang="en-US" sz="1799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with minimal intervention scop</a:t>
            </a:r>
            <a:r>
              <a:rPr lang="en-US" sz="1799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e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3107294" y="6340640"/>
            <a:ext cx="3703387" cy="3663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59"/>
              </a:lnSpc>
              <a:spcBef>
                <a:spcPct val="0"/>
              </a:spcBef>
            </a:pPr>
            <a:r>
              <a:rPr lang="en-US" b="true" sz="2599">
                <a:solidFill>
                  <a:srgbClr val="FFFFFF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Act</a:t>
            </a:r>
            <a:r>
              <a:rPr lang="en-US" b="true" sz="2599" strike="noStrike" u="none">
                <a:solidFill>
                  <a:srgbClr val="FFFFFF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iona</a:t>
            </a:r>
            <a:r>
              <a:rPr lang="en-US" b="true" sz="2599" strike="noStrike" u="none">
                <a:solidFill>
                  <a:srgbClr val="FFFFFF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b</a:t>
            </a:r>
            <a:r>
              <a:rPr lang="en-US" b="true" sz="2599" strike="noStrike" u="none">
                <a:solidFill>
                  <a:srgbClr val="FFFFFF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le Impact: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297426" y="3693849"/>
            <a:ext cx="4560637" cy="160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8618" indent="-194309" lvl="1">
              <a:lnSpc>
                <a:spcPts val="2159"/>
              </a:lnSpc>
              <a:buFont typeface="Arial"/>
              <a:buChar char="•"/>
            </a:pPr>
            <a:r>
              <a:rPr lang="en-US" sz="179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Interactive filtering across department, role, and gende</a:t>
            </a:r>
            <a:r>
              <a:rPr lang="en-US" sz="1799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 enables multi-dimensio</a:t>
            </a:r>
            <a:r>
              <a:rPr lang="en-US" sz="1799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n</a:t>
            </a:r>
            <a:r>
              <a:rPr lang="en-US" sz="1799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al </a:t>
            </a:r>
            <a:r>
              <a:rPr lang="en-US" sz="1799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analysis without restructuring data</a:t>
            </a:r>
          </a:p>
          <a:p>
            <a:pPr algn="l" marL="388618" indent="-194309" lvl="1">
              <a:lnSpc>
                <a:spcPts val="2159"/>
              </a:lnSpc>
              <a:buFont typeface="Arial"/>
              <a:buChar char="•"/>
            </a:pPr>
            <a:r>
              <a:rPr lang="en-US" sz="1799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799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</a:t>
            </a:r>
            <a:r>
              <a:rPr lang="en-US" sz="1799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e</a:t>
            </a:r>
            <a:r>
              <a:rPr lang="en-US" sz="1799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</a:t>
            </a:r>
            <a:r>
              <a:rPr lang="en-US" sz="1799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l-</a:t>
            </a:r>
            <a:r>
              <a:rPr lang="en-US" sz="1799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</a:t>
            </a:r>
            <a:r>
              <a:rPr lang="en-US" sz="1799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im</a:t>
            </a:r>
            <a:r>
              <a:rPr lang="en-US" sz="1799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e</a:t>
            </a:r>
            <a:r>
              <a:rPr lang="en-US" sz="1799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identification of high-risk employee segments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974783" y="2866189"/>
            <a:ext cx="3703387" cy="3663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59"/>
              </a:lnSpc>
              <a:spcBef>
                <a:spcPct val="0"/>
              </a:spcBef>
            </a:pPr>
            <a:r>
              <a:rPr lang="en-US" b="true" sz="2599">
                <a:solidFill>
                  <a:srgbClr val="FFFFFF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Dashboa</a:t>
            </a:r>
            <a:r>
              <a:rPr lang="en-US" b="true" sz="2599" strike="noStrike" u="none">
                <a:solidFill>
                  <a:srgbClr val="FFFFFF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rd Capa</a:t>
            </a:r>
            <a:r>
              <a:rPr lang="en-US" b="true" sz="2599" strike="noStrike" u="none">
                <a:solidFill>
                  <a:srgbClr val="FFFFFF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bi</a:t>
            </a:r>
            <a:r>
              <a:rPr lang="en-US" b="true" sz="2599" strike="noStrike" u="none">
                <a:solidFill>
                  <a:srgbClr val="FFFFFF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l</a:t>
            </a:r>
            <a:r>
              <a:rPr lang="en-US" b="true" sz="2599" strike="noStrike" u="none">
                <a:solidFill>
                  <a:srgbClr val="FFFFFF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ity: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1297426" y="7091753"/>
            <a:ext cx="4560637" cy="1866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388618" indent="-194309" lvl="1">
              <a:lnSpc>
                <a:spcPts val="2159"/>
              </a:lnSpc>
              <a:buFont typeface="Arial"/>
              <a:buChar char="•"/>
            </a:pPr>
            <a:r>
              <a:rPr lang="en-US" sz="179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Low Risk: ~58% (~850 employees)</a:t>
            </a:r>
          </a:p>
          <a:p>
            <a:pPr algn="l" marL="388618" indent="-194309" lvl="1">
              <a:lnSpc>
                <a:spcPts val="2159"/>
              </a:lnSpc>
              <a:buFont typeface="Arial"/>
              <a:buChar char="•"/>
            </a:pPr>
            <a:r>
              <a:rPr lang="en-US" sz="179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Medium Risk: ~33% (~480 employees)</a:t>
            </a:r>
          </a:p>
          <a:p>
            <a:pPr algn="l" marL="388618" indent="-194309" lvl="1">
              <a:lnSpc>
                <a:spcPts val="2159"/>
              </a:lnSpc>
              <a:buFont typeface="Arial"/>
              <a:buChar char="•"/>
            </a:pPr>
            <a:r>
              <a:rPr lang="en-US" sz="179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High Risk: ~9% (~130–140 employees)</a:t>
            </a:r>
          </a:p>
          <a:p>
            <a:pPr algn="l">
              <a:lnSpc>
                <a:spcPts val="2159"/>
              </a:lnSpc>
            </a:pPr>
            <a:r>
              <a:rPr lang="en-US" sz="1799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High-risk g</a:t>
            </a:r>
            <a:r>
              <a:rPr lang="en-US" sz="1799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ro</a:t>
            </a:r>
            <a:r>
              <a:rPr lang="en-US" sz="1799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up contributes disproportionately to tot</a:t>
            </a:r>
            <a:r>
              <a:rPr lang="en-US" sz="1799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al at</a:t>
            </a:r>
            <a:r>
              <a:rPr lang="en-US" sz="1799" strike="noStrike" u="none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trition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974783" y="6222736"/>
            <a:ext cx="3703387" cy="728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859"/>
              </a:lnSpc>
              <a:spcBef>
                <a:spcPct val="0"/>
              </a:spcBef>
            </a:pPr>
            <a:r>
              <a:rPr lang="en-US" b="true" sz="2599">
                <a:solidFill>
                  <a:srgbClr val="FFFFFF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Risk Segm</a:t>
            </a:r>
            <a:r>
              <a:rPr lang="en-US" b="true" sz="2599" strike="noStrike" u="none">
                <a:solidFill>
                  <a:srgbClr val="FFFFFF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entation </a:t>
            </a:r>
            <a:r>
              <a:rPr lang="en-US" b="true" sz="2599" strike="noStrike" u="none">
                <a:solidFill>
                  <a:srgbClr val="FFFFFF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Out</a:t>
            </a:r>
            <a:r>
              <a:rPr lang="en-US" b="true" sz="2599" strike="noStrike" u="none">
                <a:solidFill>
                  <a:srgbClr val="FFFFFF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p</a:t>
            </a:r>
            <a:r>
              <a:rPr lang="en-US" b="true" sz="2599" strike="noStrike" u="none">
                <a:solidFill>
                  <a:srgbClr val="FFFFFF"/>
                </a:solidFill>
                <a:latin typeface="Inter Semi-Bold"/>
                <a:ea typeface="Inter Semi-Bold"/>
                <a:cs typeface="Inter Semi-Bold"/>
                <a:sym typeface="Inter Semi-Bold"/>
              </a:rPr>
              <a:t>ut: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7073461" y="6517887"/>
            <a:ext cx="4098432" cy="216712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891"/>
              </a:lnSpc>
              <a:spcBef>
                <a:spcPct val="0"/>
              </a:spcBef>
            </a:pPr>
            <a:r>
              <a:rPr lang="en-US" b="true" sz="2065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Attr</a:t>
            </a:r>
            <a:r>
              <a:rPr lang="en-US" b="true" sz="2065" strike="noStrike" u="none">
                <a:solidFill>
                  <a:srgbClr val="FFFFFF"/>
                </a:solidFill>
                <a:latin typeface="Inter Bold"/>
                <a:ea typeface="Inter Bold"/>
                <a:cs typeface="Inter Bold"/>
                <a:sym typeface="Inter Bold"/>
              </a:rPr>
              <a:t>ition is not random behavior; it is a predictable system driven by interacting variables and can be reduced through focused, data-driven decisions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gradFill rotWithShape="true">
          <a:gsLst>
            <a:gs pos="0">
              <a:srgbClr val="5C7257">
                <a:alpha val="100000"/>
              </a:srgbClr>
            </a:gs>
            <a:gs pos="50000">
              <a:srgbClr val="2F472C">
                <a:alpha val="100000"/>
              </a:srgbClr>
            </a:gs>
            <a:gs pos="100000">
              <a:srgbClr val="1F371C">
                <a:alpha val="100000"/>
              </a:srgbClr>
            </a:gs>
          </a:gsLst>
          <a:path path="circle">
            <a:fillToRect l="0" r="100000" t="0" b="100000"/>
          </a:path>
          <a:tileRect r="0" l="-100000" b="0" t="-100000"/>
        </a:gra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 flipV="true">
            <a:off x="1028700" y="1559930"/>
            <a:ext cx="16230600" cy="0"/>
          </a:xfrm>
          <a:prstGeom prst="line">
            <a:avLst/>
          </a:prstGeom>
          <a:ln cap="flat" w="1905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" id="3"/>
          <p:cNvSpPr txBox="true"/>
          <p:nvPr/>
        </p:nvSpPr>
        <p:spPr>
          <a:xfrm rot="0">
            <a:off x="3453317" y="3777104"/>
            <a:ext cx="11758501" cy="34004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3200"/>
              </a:lnSpc>
            </a:pPr>
            <a:r>
              <a:rPr lang="en-US" sz="12000" spc="-420">
                <a:solidFill>
                  <a:srgbClr val="FFFFFF"/>
                </a:solidFill>
                <a:latin typeface="Open Sauce"/>
                <a:ea typeface="Open Sauce"/>
                <a:cs typeface="Open Sauce"/>
                <a:sym typeface="Open Sauce"/>
              </a:rPr>
              <a:t>Thank You for Your Time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919981"/>
            <a:ext cx="3225537" cy="35623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0" indent="0" lvl="0">
              <a:lnSpc>
                <a:spcPts val="2940"/>
              </a:lnSpc>
              <a:spcBef>
                <a:spcPct val="0"/>
              </a:spcBef>
            </a:pPr>
            <a:r>
              <a:rPr lang="en-US" sz="21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By Rati Srivastava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DAHHPj1anzw</dc:identifier>
  <dcterms:modified xsi:type="dcterms:W3CDTF">2011-08-01T06:04:30Z</dcterms:modified>
  <cp:revision>1</cp:revision>
  <dc:title>Quantitative Analysis of Employee Attrition Using Tableau</dc:title>
</cp:coreProperties>
</file>