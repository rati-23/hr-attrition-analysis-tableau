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uce" charset="1" panose="00000500000000000000"/>
      <p:regular r:id="rId13"/>
    </p:embeddedFont>
    <p:embeddedFont>
      <p:font typeface="Inter Medium" charset="1" panose="02000503000000020004"/>
      <p:regular r:id="rId14"/>
    </p:embeddedFont>
    <p:embeddedFont>
      <p:font typeface="Inter" charset="1" panose="020B0502030000000004"/>
      <p:regular r:id="rId15"/>
    </p:embeddedFont>
    <p:embeddedFont>
      <p:font typeface="Inter Light" charset="1" panose="02000503000000020004"/>
      <p:regular r:id="rId16"/>
    </p:embeddedFont>
    <p:embeddedFont>
      <p:font typeface="Inter Semi-Bold" charset="1" panose="02000503000000020004"/>
      <p:regular r:id="rId17"/>
    </p:embeddedFont>
    <p:embeddedFont>
      <p:font typeface="Inter Bold" charset="1" panose="020B080203000000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Rati-23/HR-Attrition-Analysis-Tableau" TargetMode="External" Type="http://schemas.openxmlformats.org/officeDocument/2006/relationships/hyperlink"/><Relationship Id="rId3" Target="https://drive.google.com/drive/folders/1XtYUdjDy0bPTSJ7f_QpNuiRbZfpPPFeY?usp=sharing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5C7257">
                <a:alpha val="100000"/>
              </a:srgbClr>
            </a:gs>
            <a:gs pos="50000">
              <a:srgbClr val="2F472C">
                <a:alpha val="100000"/>
              </a:srgbClr>
            </a:gs>
            <a:gs pos="100000">
              <a:srgbClr val="1F371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973315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852057" y="3081497"/>
            <a:ext cx="13014588" cy="4270343"/>
            <a:chOff x="0" y="0"/>
            <a:chExt cx="3427710" cy="11246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27711" cy="1124699"/>
            </a:xfrm>
            <a:custGeom>
              <a:avLst/>
              <a:gdLst/>
              <a:ahLst/>
              <a:cxnLst/>
              <a:rect r="r" b="b" t="t" l="l"/>
              <a:pathLst>
                <a:path h="1124699" w="3427711">
                  <a:moveTo>
                    <a:pt x="35692" y="0"/>
                  </a:moveTo>
                  <a:lnTo>
                    <a:pt x="3392019" y="0"/>
                  </a:lnTo>
                  <a:cubicBezTo>
                    <a:pt x="3411731" y="0"/>
                    <a:pt x="3427711" y="15980"/>
                    <a:pt x="3427711" y="35692"/>
                  </a:cubicBezTo>
                  <a:lnTo>
                    <a:pt x="3427711" y="1089008"/>
                  </a:lnTo>
                  <a:cubicBezTo>
                    <a:pt x="3427711" y="1108720"/>
                    <a:pt x="3411731" y="1124699"/>
                    <a:pt x="3392019" y="1124699"/>
                  </a:cubicBezTo>
                  <a:lnTo>
                    <a:pt x="35692" y="1124699"/>
                  </a:lnTo>
                  <a:cubicBezTo>
                    <a:pt x="15980" y="1124699"/>
                    <a:pt x="0" y="1108720"/>
                    <a:pt x="0" y="1089008"/>
                  </a:cubicBezTo>
                  <a:lnTo>
                    <a:pt x="0" y="35692"/>
                  </a:lnTo>
                  <a:cubicBezTo>
                    <a:pt x="0" y="15980"/>
                    <a:pt x="15980" y="0"/>
                    <a:pt x="3569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B18A">
                    <a:alpha val="4000"/>
                  </a:srgbClr>
                </a:gs>
                <a:gs pos="100000">
                  <a:srgbClr val="F4F1ED">
                    <a:alpha val="316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FFFFFF">
                      <a:alpha val="80000"/>
                    </a:srgbClr>
                  </a:gs>
                  <a:gs pos="25000">
                    <a:srgbClr val="9B9A9A">
                      <a:alpha val="80000"/>
                    </a:srgbClr>
                  </a:gs>
                  <a:gs pos="50000">
                    <a:srgbClr val="FFFFFF">
                      <a:alpha val="80000"/>
                    </a:srgbClr>
                  </a:gs>
                  <a:gs pos="75000">
                    <a:srgbClr val="9C9B9B">
                      <a:alpha val="80000"/>
                    </a:srgbClr>
                  </a:gs>
                  <a:gs pos="100000">
                    <a:srgbClr val="FFFFFF">
                      <a:alpha val="8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3427710" cy="1229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28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8700" y="8460022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028700" y="9326883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4244712" y="8460022"/>
            <a:ext cx="0" cy="866861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13344441" y="8460022"/>
            <a:ext cx="0" cy="866861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3543801" y="3482160"/>
            <a:ext cx="11758501" cy="354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8400" spc="-29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Qu</a:t>
            </a:r>
            <a:r>
              <a:rPr lang="en-US" sz="8400" spc="-29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antitative Analysis of Employee Attrition Using Tableau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69642"/>
            <a:ext cx="3225537" cy="31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2"/>
              </a:lnSpc>
              <a:spcBef>
                <a:spcPct val="0"/>
              </a:spcBef>
            </a:pPr>
            <a:r>
              <a:rPr lang="en-US" b="true" sz="2229" spc="66" strike="noStrike" u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PRESENTED BY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340855"/>
            <a:ext cx="322553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Rati Srivastava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27055" y="8745772"/>
            <a:ext cx="3532245" cy="31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2"/>
              </a:lnSpc>
              <a:spcBef>
                <a:spcPct val="0"/>
              </a:spcBef>
            </a:pPr>
            <a:r>
              <a:rPr lang="en-US" b="true" sz="2229" spc="6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237 ATTRITIONS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746669"/>
            <a:ext cx="3229772" cy="31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2"/>
              </a:lnSpc>
              <a:spcBef>
                <a:spcPct val="0"/>
              </a:spcBef>
            </a:pPr>
            <a:r>
              <a:rPr lang="en-US" b="true" sz="2229" spc="6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1,470 EMPLOYEES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636814" y="945525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636814" y="1812385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 flipV="true">
            <a:off x="3852826" y="945525"/>
            <a:ext cx="0" cy="866861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 flipV="true">
            <a:off x="13651403" y="945525"/>
            <a:ext cx="0" cy="866861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4169313" y="1232171"/>
            <a:ext cx="9165603" cy="31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2"/>
              </a:lnSpc>
              <a:spcBef>
                <a:spcPct val="0"/>
              </a:spcBef>
            </a:pPr>
            <a:r>
              <a:rPr lang="en-US" b="true" sz="2229" spc="6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DATA VISULAISATION EXXPLORATORY COURSE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37642" y="1232171"/>
            <a:ext cx="3229772" cy="31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2"/>
              </a:lnSpc>
              <a:spcBef>
                <a:spcPct val="0"/>
              </a:spcBef>
            </a:pPr>
            <a:r>
              <a:rPr lang="en-US" b="true" sz="2229" spc="6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R290222056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33251" y="8745772"/>
            <a:ext cx="4160980" cy="31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2"/>
              </a:lnSpc>
              <a:spcBef>
                <a:spcPct val="0"/>
              </a:spcBef>
            </a:pPr>
            <a:r>
              <a:rPr lang="en-US" b="true" sz="2229" spc="6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~16% ATTRITION RATE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C7257">
                <a:alpha val="100000"/>
              </a:srgbClr>
            </a:gs>
            <a:gs pos="50000">
              <a:srgbClr val="2F472C">
                <a:alpha val="100000"/>
              </a:srgbClr>
            </a:gs>
            <a:gs pos="100000">
              <a:srgbClr val="1F371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25280"/>
            <a:ext cx="16230600" cy="990780"/>
            <a:chOff x="0" y="0"/>
            <a:chExt cx="21640800" cy="132104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321040"/>
              <a:chOff x="0" y="0"/>
              <a:chExt cx="4274726" cy="26094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74726" cy="260946"/>
              </a:xfrm>
              <a:custGeom>
                <a:avLst/>
                <a:gdLst/>
                <a:ahLst/>
                <a:cxnLst/>
                <a:rect r="r" b="b" t="t" l="l"/>
                <a:pathLst>
                  <a:path h="260946" w="4274726">
                    <a:moveTo>
                      <a:pt x="28620" y="0"/>
                    </a:moveTo>
                    <a:lnTo>
                      <a:pt x="4246106" y="0"/>
                    </a:lnTo>
                    <a:cubicBezTo>
                      <a:pt x="4261912" y="0"/>
                      <a:pt x="4274726" y="12813"/>
                      <a:pt x="4274726" y="28620"/>
                    </a:cubicBezTo>
                    <a:lnTo>
                      <a:pt x="4274726" y="232326"/>
                    </a:lnTo>
                    <a:cubicBezTo>
                      <a:pt x="4274726" y="248133"/>
                      <a:pt x="4261912" y="260946"/>
                      <a:pt x="4246106" y="260946"/>
                    </a:cubicBezTo>
                    <a:lnTo>
                      <a:pt x="28620" y="260946"/>
                    </a:lnTo>
                    <a:cubicBezTo>
                      <a:pt x="12813" y="260946"/>
                      <a:pt x="0" y="248133"/>
                      <a:pt x="0" y="232326"/>
                    </a:cubicBezTo>
                    <a:lnTo>
                      <a:pt x="0" y="28620"/>
                    </a:lnTo>
                    <a:cubicBezTo>
                      <a:pt x="0" y="12813"/>
                      <a:pt x="12813" y="0"/>
                      <a:pt x="286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3B18A">
                      <a:alpha val="4000"/>
                    </a:srgbClr>
                  </a:gs>
                  <a:gs pos="100000">
                    <a:srgbClr val="F4F1ED">
                      <a:alpha val="31600"/>
                    </a:srgbClr>
                  </a:gs>
                </a:gsLst>
                <a:lin ang="2700000"/>
              </a:gradFill>
              <a:ln w="38100" cap="rnd"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25000">
                      <a:srgbClr val="9B9A9A">
                        <a:alpha val="80000"/>
                      </a:srgbClr>
                    </a:gs>
                    <a:gs pos="50000">
                      <a:srgbClr val="FFFFFF">
                        <a:alpha val="80000"/>
                      </a:srgbClr>
                    </a:gs>
                    <a:gs pos="75000">
                      <a:srgbClr val="9C9B9B">
                        <a:alpha val="8000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04775"/>
                <a:ext cx="4274726" cy="3657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2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519379" y="128813"/>
              <a:ext cx="20602042" cy="10253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Employ</a:t>
              </a:r>
              <a:r>
                <a:rPr lang="en-US" sz="2199" strike="noStrike" u="none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ee attrition is a measurable indicator of organizational health, affecting productivity, operational continuity, and cost efficiency. At moderate levels, it reflects underlying systemic inefficiencies rather than isolated employee exits.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3497060"/>
            <a:ext cx="5279943" cy="5839348"/>
            <a:chOff x="0" y="0"/>
            <a:chExt cx="1390602" cy="15379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0602" cy="1537935"/>
            </a:xfrm>
            <a:custGeom>
              <a:avLst/>
              <a:gdLst/>
              <a:ahLst/>
              <a:cxnLst/>
              <a:rect r="r" b="b" t="t" l="l"/>
              <a:pathLst>
                <a:path h="1537935" w="1390602">
                  <a:moveTo>
                    <a:pt x="87977" y="0"/>
                  </a:moveTo>
                  <a:lnTo>
                    <a:pt x="1302625" y="0"/>
                  </a:lnTo>
                  <a:cubicBezTo>
                    <a:pt x="1325958" y="0"/>
                    <a:pt x="1348335" y="9269"/>
                    <a:pt x="1364834" y="25768"/>
                  </a:cubicBezTo>
                  <a:cubicBezTo>
                    <a:pt x="1381333" y="42267"/>
                    <a:pt x="1390602" y="64644"/>
                    <a:pt x="1390602" y="87977"/>
                  </a:cubicBezTo>
                  <a:lnTo>
                    <a:pt x="1390602" y="1449958"/>
                  </a:lnTo>
                  <a:cubicBezTo>
                    <a:pt x="1390602" y="1473291"/>
                    <a:pt x="1381333" y="1495668"/>
                    <a:pt x="1364834" y="1512167"/>
                  </a:cubicBezTo>
                  <a:cubicBezTo>
                    <a:pt x="1348335" y="1528666"/>
                    <a:pt x="1325958" y="1537935"/>
                    <a:pt x="1302625" y="1537935"/>
                  </a:cubicBezTo>
                  <a:lnTo>
                    <a:pt x="87977" y="1537935"/>
                  </a:lnTo>
                  <a:cubicBezTo>
                    <a:pt x="64644" y="1537935"/>
                    <a:pt x="42267" y="1528666"/>
                    <a:pt x="25768" y="1512167"/>
                  </a:cubicBezTo>
                  <a:cubicBezTo>
                    <a:pt x="9269" y="1495668"/>
                    <a:pt x="0" y="1473291"/>
                    <a:pt x="0" y="1449958"/>
                  </a:cubicBezTo>
                  <a:lnTo>
                    <a:pt x="0" y="87977"/>
                  </a:lnTo>
                  <a:cubicBezTo>
                    <a:pt x="0" y="64644"/>
                    <a:pt x="9269" y="42267"/>
                    <a:pt x="25768" y="25768"/>
                  </a:cubicBezTo>
                  <a:cubicBezTo>
                    <a:pt x="42267" y="9269"/>
                    <a:pt x="64644" y="0"/>
                    <a:pt x="8797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FFFFF">
                      <a:alpha val="80000"/>
                    </a:srgbClr>
                  </a:gs>
                  <a:gs pos="25000">
                    <a:srgbClr val="9B9A9A">
                      <a:alpha val="80000"/>
                    </a:srgbClr>
                  </a:gs>
                  <a:gs pos="50000">
                    <a:srgbClr val="FFFFFF">
                      <a:alpha val="80000"/>
                    </a:srgbClr>
                  </a:gs>
                  <a:gs pos="75000">
                    <a:srgbClr val="9C9B9B">
                      <a:alpha val="80000"/>
                    </a:srgbClr>
                  </a:gs>
                  <a:gs pos="100000">
                    <a:srgbClr val="FFFFFF">
                      <a:alpha val="8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1390602" cy="1642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2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0373" y="3914984"/>
            <a:ext cx="4756597" cy="926045"/>
            <a:chOff x="0" y="0"/>
            <a:chExt cx="6342130" cy="123472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342130" cy="1234726"/>
              <a:chOff x="0" y="0"/>
              <a:chExt cx="1252766" cy="24389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52766" cy="243897"/>
              </a:xfrm>
              <a:custGeom>
                <a:avLst/>
                <a:gdLst/>
                <a:ahLst/>
                <a:cxnLst/>
                <a:rect r="r" b="b" t="t" l="l"/>
                <a:pathLst>
                  <a:path h="243897" w="1252766">
                    <a:moveTo>
                      <a:pt x="56967" y="0"/>
                    </a:moveTo>
                    <a:lnTo>
                      <a:pt x="1195800" y="0"/>
                    </a:lnTo>
                    <a:cubicBezTo>
                      <a:pt x="1227262" y="0"/>
                      <a:pt x="1252766" y="25505"/>
                      <a:pt x="1252766" y="56967"/>
                    </a:cubicBezTo>
                    <a:lnTo>
                      <a:pt x="1252766" y="186930"/>
                    </a:lnTo>
                    <a:cubicBezTo>
                      <a:pt x="1252766" y="218392"/>
                      <a:pt x="1227262" y="243897"/>
                      <a:pt x="1195800" y="243897"/>
                    </a:cubicBezTo>
                    <a:lnTo>
                      <a:pt x="56967" y="243897"/>
                    </a:lnTo>
                    <a:cubicBezTo>
                      <a:pt x="25505" y="243897"/>
                      <a:pt x="0" y="218392"/>
                      <a:pt x="0" y="186930"/>
                    </a:cubicBezTo>
                    <a:lnTo>
                      <a:pt x="0" y="56967"/>
                    </a:lnTo>
                    <a:cubicBezTo>
                      <a:pt x="0" y="25505"/>
                      <a:pt x="25505" y="0"/>
                      <a:pt x="56967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3B18A">
                      <a:alpha val="4000"/>
                    </a:srgbClr>
                  </a:gs>
                  <a:gs pos="100000">
                    <a:srgbClr val="F4F1ED">
                      <a:alpha val="31600"/>
                    </a:srgbClr>
                  </a:gs>
                </a:gsLst>
                <a:lin ang="2700000"/>
              </a:gradFill>
              <a:ln w="38100" cap="rnd"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25000">
                      <a:srgbClr val="9B9A9A">
                        <a:alpha val="80000"/>
                      </a:srgbClr>
                    </a:gs>
                    <a:gs pos="50000">
                      <a:srgbClr val="FFFFFF">
                        <a:alpha val="80000"/>
                      </a:srgbClr>
                    </a:gs>
                    <a:gs pos="75000">
                      <a:srgbClr val="9C9B9B">
                        <a:alpha val="8000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04775"/>
                <a:ext cx="1252766" cy="348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2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318129" y="387345"/>
              <a:ext cx="409286" cy="460037"/>
            </a:xfrm>
            <a:custGeom>
              <a:avLst/>
              <a:gdLst/>
              <a:ahLst/>
              <a:cxnLst/>
              <a:rect r="r" b="b" t="t" l="l"/>
              <a:pathLst>
                <a:path h="460037" w="409286">
                  <a:moveTo>
                    <a:pt x="0" y="0"/>
                  </a:moveTo>
                  <a:lnTo>
                    <a:pt x="409285" y="0"/>
                  </a:lnTo>
                  <a:lnTo>
                    <a:pt x="409285" y="460037"/>
                  </a:lnTo>
                  <a:lnTo>
                    <a:pt x="0" y="460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981414" y="382625"/>
              <a:ext cx="5093764" cy="4980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9"/>
                </a:lnSpc>
              </a:pPr>
              <a:r>
                <a:rPr lang="en-US" sz="2599" b="true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Problem: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969092" y="3497060"/>
            <a:ext cx="5290208" cy="5839348"/>
            <a:chOff x="0" y="0"/>
            <a:chExt cx="1393306" cy="15379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93306" cy="1537935"/>
            </a:xfrm>
            <a:custGeom>
              <a:avLst/>
              <a:gdLst/>
              <a:ahLst/>
              <a:cxnLst/>
              <a:rect r="r" b="b" t="t" l="l"/>
              <a:pathLst>
                <a:path h="1537935" w="1393306">
                  <a:moveTo>
                    <a:pt x="87807" y="0"/>
                  </a:moveTo>
                  <a:lnTo>
                    <a:pt x="1305499" y="0"/>
                  </a:lnTo>
                  <a:cubicBezTo>
                    <a:pt x="1353994" y="0"/>
                    <a:pt x="1393306" y="39312"/>
                    <a:pt x="1393306" y="87807"/>
                  </a:cubicBezTo>
                  <a:lnTo>
                    <a:pt x="1393306" y="1450129"/>
                  </a:lnTo>
                  <a:cubicBezTo>
                    <a:pt x="1393306" y="1473416"/>
                    <a:pt x="1384055" y="1495750"/>
                    <a:pt x="1367588" y="1512217"/>
                  </a:cubicBezTo>
                  <a:cubicBezTo>
                    <a:pt x="1351121" y="1528684"/>
                    <a:pt x="1328787" y="1537935"/>
                    <a:pt x="1305499" y="1537935"/>
                  </a:cubicBezTo>
                  <a:lnTo>
                    <a:pt x="87807" y="1537935"/>
                  </a:lnTo>
                  <a:cubicBezTo>
                    <a:pt x="64519" y="1537935"/>
                    <a:pt x="42185" y="1528684"/>
                    <a:pt x="25718" y="1512217"/>
                  </a:cubicBezTo>
                  <a:cubicBezTo>
                    <a:pt x="9251" y="1495750"/>
                    <a:pt x="0" y="1473416"/>
                    <a:pt x="0" y="1450129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FFFFF">
                      <a:alpha val="80000"/>
                    </a:srgbClr>
                  </a:gs>
                  <a:gs pos="25000">
                    <a:srgbClr val="9B9A9A">
                      <a:alpha val="80000"/>
                    </a:srgbClr>
                  </a:gs>
                  <a:gs pos="50000">
                    <a:srgbClr val="FFFFFF">
                      <a:alpha val="80000"/>
                    </a:srgbClr>
                  </a:gs>
                  <a:gs pos="75000">
                    <a:srgbClr val="9C9B9B">
                      <a:alpha val="80000"/>
                    </a:srgbClr>
                  </a:gs>
                  <a:gs pos="100000">
                    <a:srgbClr val="FFFFFF">
                      <a:alpha val="8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1393306" cy="1642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2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16706" y="3914984"/>
            <a:ext cx="4794980" cy="926045"/>
            <a:chOff x="0" y="0"/>
            <a:chExt cx="6393307" cy="1234726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393307" cy="1234726"/>
              <a:chOff x="0" y="0"/>
              <a:chExt cx="1262875" cy="24389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62875" cy="243897"/>
              </a:xfrm>
              <a:custGeom>
                <a:avLst/>
                <a:gdLst/>
                <a:ahLst/>
                <a:cxnLst/>
                <a:rect r="r" b="b" t="t" l="l"/>
                <a:pathLst>
                  <a:path h="243897" w="1262875">
                    <a:moveTo>
                      <a:pt x="56511" y="0"/>
                    </a:moveTo>
                    <a:lnTo>
                      <a:pt x="1206365" y="0"/>
                    </a:lnTo>
                    <a:cubicBezTo>
                      <a:pt x="1237575" y="0"/>
                      <a:pt x="1262875" y="25301"/>
                      <a:pt x="1262875" y="56511"/>
                    </a:cubicBezTo>
                    <a:lnTo>
                      <a:pt x="1262875" y="187386"/>
                    </a:lnTo>
                    <a:cubicBezTo>
                      <a:pt x="1262875" y="218596"/>
                      <a:pt x="1237575" y="243897"/>
                      <a:pt x="1206365" y="243897"/>
                    </a:cubicBezTo>
                    <a:lnTo>
                      <a:pt x="56511" y="243897"/>
                    </a:lnTo>
                    <a:cubicBezTo>
                      <a:pt x="25301" y="243897"/>
                      <a:pt x="0" y="218596"/>
                      <a:pt x="0" y="187386"/>
                    </a:cubicBezTo>
                    <a:lnTo>
                      <a:pt x="0" y="56511"/>
                    </a:lnTo>
                    <a:cubicBezTo>
                      <a:pt x="0" y="25301"/>
                      <a:pt x="25301" y="0"/>
                      <a:pt x="5651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3B18A">
                      <a:alpha val="4000"/>
                    </a:srgbClr>
                  </a:gs>
                  <a:gs pos="100000">
                    <a:srgbClr val="F4F1ED">
                      <a:alpha val="31600"/>
                    </a:srgbClr>
                  </a:gs>
                </a:gsLst>
                <a:lin ang="2700000"/>
              </a:gradFill>
              <a:ln w="38100" cap="rnd"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25000">
                      <a:srgbClr val="9B9A9A">
                        <a:alpha val="80000"/>
                      </a:srgbClr>
                    </a:gs>
                    <a:gs pos="50000">
                      <a:srgbClr val="FFFFFF">
                        <a:alpha val="80000"/>
                      </a:srgbClr>
                    </a:gs>
                    <a:gs pos="75000">
                      <a:srgbClr val="9C9B9B">
                        <a:alpha val="8000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04775"/>
                <a:ext cx="1262875" cy="348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2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981414" y="382625"/>
              <a:ext cx="5093764" cy="4980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599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Obj</a:t>
              </a:r>
              <a:r>
                <a:rPr lang="en-US" b="true" sz="2599" strike="noStrike" u="none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e</a:t>
              </a:r>
              <a:r>
                <a:rPr lang="en-US" b="true" sz="2599" strike="noStrike" u="none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ct</a:t>
              </a:r>
              <a:r>
                <a:rPr lang="en-US" b="true" sz="2599" strike="noStrike" u="none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i</a:t>
              </a:r>
              <a:r>
                <a:rPr lang="en-US" b="true" sz="2599" strike="noStrike" u="none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v</a:t>
              </a:r>
              <a:r>
                <a:rPr lang="en-US" b="true" sz="2599" strike="noStrike" u="none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e</a:t>
              </a:r>
              <a:r>
                <a:rPr lang="en-US" b="true" sz="2599" strike="noStrike" u="none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: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318129" y="387345"/>
              <a:ext cx="409286" cy="460037"/>
            </a:xfrm>
            <a:custGeom>
              <a:avLst/>
              <a:gdLst/>
              <a:ahLst/>
              <a:cxnLst/>
              <a:rect r="r" b="b" t="t" l="l"/>
              <a:pathLst>
                <a:path h="460037" w="409286">
                  <a:moveTo>
                    <a:pt x="0" y="0"/>
                  </a:moveTo>
                  <a:lnTo>
                    <a:pt x="409285" y="0"/>
                  </a:lnTo>
                  <a:lnTo>
                    <a:pt x="409285" y="460037"/>
                  </a:lnTo>
                  <a:lnTo>
                    <a:pt x="0" y="460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7059696" y="3979922"/>
          <a:ext cx="4158343" cy="4873625"/>
        </p:xfrm>
        <a:graphic>
          <a:graphicData uri="http://schemas.openxmlformats.org/drawingml/2006/table">
            <a:tbl>
              <a:tblPr/>
              <a:tblGrid>
                <a:gridCol w="2619406"/>
                <a:gridCol w="1538937"/>
              </a:tblGrid>
              <a:tr h="17796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Employees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1,470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42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Attritions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237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96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Attrition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~16%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5725">
                      <a:solidFill>
                        <a:srgbClr val="819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1028700" y="748146"/>
            <a:ext cx="16421100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24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Problem Definition</a:t>
            </a:r>
            <a:r>
              <a:rPr lang="en-US" sz="6999" spc="-24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&amp; Analytical Objective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09778" y="5183928"/>
            <a:ext cx="4317787" cy="376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999" spc="49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Traditional analysis treats attrition as independent factors and relies on aggregated</a:t>
            </a:r>
            <a:r>
              <a:rPr lang="en-US" sz="1999" spc="49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 met</a:t>
            </a:r>
            <a:r>
              <a:rPr lang="en-US" sz="1999" spc="49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r</a:t>
            </a:r>
            <a:r>
              <a:rPr lang="en-US" sz="1999" spc="49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i</a:t>
            </a:r>
            <a:r>
              <a:rPr lang="en-US" sz="1999" spc="49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c</a:t>
            </a:r>
            <a:r>
              <a:rPr lang="en-US" sz="1999" spc="49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s</a:t>
            </a:r>
            <a:r>
              <a:rPr lang="en-US" sz="1999" spc="49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,</a:t>
            </a:r>
            <a:r>
              <a:rPr lang="en-US" sz="1999" spc="49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999" spc="49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which f</a:t>
            </a:r>
            <a:r>
              <a:rPr lang="en-US" sz="1999" spc="49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ail to capture in</a:t>
            </a:r>
            <a:r>
              <a:rPr lang="en-US" sz="1999" spc="49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teractions</a:t>
            </a:r>
            <a:r>
              <a:rPr lang="en-US" sz="1999" spc="49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 between variables.</a:t>
            </a:r>
          </a:p>
          <a:p>
            <a:pPr algn="just" marL="0" indent="0" lvl="0">
              <a:lnSpc>
                <a:spcPts val="27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999" spc="49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Attrition is a multi-variable system where workload, compensation, job role, and tenure interact in non-linear ways.</a:t>
            </a:r>
          </a:p>
          <a:p>
            <a:pPr algn="just" marL="0" indent="0" lvl="0">
              <a:lnSpc>
                <a:spcPts val="2719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455302" y="5056675"/>
            <a:ext cx="4317787" cy="3896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3127"/>
              </a:lnSpc>
              <a:spcBef>
                <a:spcPct val="0"/>
              </a:spcBef>
              <a:buFont typeface="Arial"/>
              <a:buChar char="•"/>
            </a:pPr>
            <a:r>
              <a:rPr lang="en-US" sz="2299" spc="57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Identify and quan</a:t>
            </a:r>
            <a:r>
              <a:rPr lang="en-US" sz="2299" spc="57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tify key drivers of attrition</a:t>
            </a:r>
          </a:p>
          <a:p>
            <a:pPr algn="l" marL="496569" indent="-248284" lvl="1">
              <a:lnSpc>
                <a:spcPts val="3127"/>
              </a:lnSpc>
              <a:spcBef>
                <a:spcPct val="0"/>
              </a:spcBef>
              <a:buFont typeface="Arial"/>
              <a:buChar char="•"/>
            </a:pPr>
            <a:r>
              <a:rPr lang="en-US" sz="2299" spc="57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Analyze interaction between multiple variables</a:t>
            </a:r>
          </a:p>
          <a:p>
            <a:pPr algn="l" marL="496569" indent="-248284" lvl="1">
              <a:lnSpc>
                <a:spcPts val="3127"/>
              </a:lnSpc>
              <a:spcBef>
                <a:spcPct val="0"/>
              </a:spcBef>
              <a:buFont typeface="Arial"/>
              <a:buChar char="•"/>
            </a:pPr>
            <a:r>
              <a:rPr lang="en-US" sz="2299" spc="57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Detect hig</a:t>
            </a:r>
            <a:r>
              <a:rPr lang="en-US" sz="2299" spc="57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h-r</a:t>
            </a:r>
            <a:r>
              <a:rPr lang="en-US" sz="2299" spc="57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isk employee segments</a:t>
            </a:r>
          </a:p>
          <a:p>
            <a:pPr algn="l" marL="496569" indent="-248284" lvl="1">
              <a:lnSpc>
                <a:spcPts val="3127"/>
              </a:lnSpc>
              <a:spcBef>
                <a:spcPct val="0"/>
              </a:spcBef>
              <a:buFont typeface="Arial"/>
              <a:buChar char="•"/>
            </a:pPr>
            <a:r>
              <a:rPr lang="en-US" sz="2299" spc="57" strike="noStrike" u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Enable data-driven, predictive insights</a:t>
            </a:r>
          </a:p>
          <a:p>
            <a:pPr algn="l" marL="0" indent="0" lvl="0">
              <a:lnSpc>
                <a:spcPts val="31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C7257">
                <a:alpha val="100000"/>
              </a:srgbClr>
            </a:gs>
            <a:gs pos="50000">
              <a:srgbClr val="2F472C">
                <a:alpha val="100000"/>
              </a:srgbClr>
            </a:gs>
            <a:gs pos="100000">
              <a:srgbClr val="1F371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451851"/>
            <a:ext cx="8302366" cy="1838255"/>
            <a:chOff x="0" y="0"/>
            <a:chExt cx="3051849" cy="675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51849" cy="675720"/>
            </a:xfrm>
            <a:custGeom>
              <a:avLst/>
              <a:gdLst/>
              <a:ahLst/>
              <a:cxnLst/>
              <a:rect r="r" b="b" t="t" l="l"/>
              <a:pathLst>
                <a:path h="675720" w="3051849">
                  <a:moveTo>
                    <a:pt x="55950" y="0"/>
                  </a:moveTo>
                  <a:lnTo>
                    <a:pt x="2995899" y="0"/>
                  </a:lnTo>
                  <a:cubicBezTo>
                    <a:pt x="3010738" y="0"/>
                    <a:pt x="3024969" y="5895"/>
                    <a:pt x="3035461" y="16387"/>
                  </a:cubicBezTo>
                  <a:cubicBezTo>
                    <a:pt x="3045954" y="26880"/>
                    <a:pt x="3051849" y="41111"/>
                    <a:pt x="3051849" y="55950"/>
                  </a:cubicBezTo>
                  <a:lnTo>
                    <a:pt x="3051849" y="619770"/>
                  </a:lnTo>
                  <a:cubicBezTo>
                    <a:pt x="3051849" y="650671"/>
                    <a:pt x="3026799" y="675720"/>
                    <a:pt x="2995899" y="675720"/>
                  </a:cubicBezTo>
                  <a:lnTo>
                    <a:pt x="55950" y="675720"/>
                  </a:lnTo>
                  <a:cubicBezTo>
                    <a:pt x="41111" y="675720"/>
                    <a:pt x="26880" y="669825"/>
                    <a:pt x="16387" y="659333"/>
                  </a:cubicBezTo>
                  <a:cubicBezTo>
                    <a:pt x="5895" y="648840"/>
                    <a:pt x="0" y="634609"/>
                    <a:pt x="0" y="619770"/>
                  </a:cubicBezTo>
                  <a:lnTo>
                    <a:pt x="0" y="55950"/>
                  </a:lnTo>
                  <a:cubicBezTo>
                    <a:pt x="0" y="41111"/>
                    <a:pt x="5895" y="26880"/>
                    <a:pt x="16387" y="16387"/>
                  </a:cubicBezTo>
                  <a:cubicBezTo>
                    <a:pt x="26880" y="5895"/>
                    <a:pt x="41111" y="0"/>
                    <a:pt x="5595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FFFFF">
                      <a:alpha val="80000"/>
                    </a:srgbClr>
                  </a:gs>
                  <a:gs pos="25000">
                    <a:srgbClr val="9B9A9A">
                      <a:alpha val="80000"/>
                    </a:srgbClr>
                  </a:gs>
                  <a:gs pos="50000">
                    <a:srgbClr val="FFFFFF">
                      <a:alpha val="80000"/>
                    </a:srgbClr>
                  </a:gs>
                  <a:gs pos="75000">
                    <a:srgbClr val="9C9B9B">
                      <a:alpha val="80000"/>
                    </a:srgbClr>
                  </a:gs>
                  <a:gs pos="100000">
                    <a:srgbClr val="FFFFFF">
                      <a:alpha val="8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3051849" cy="780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2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509181"/>
            <a:ext cx="9799650" cy="1781016"/>
            <a:chOff x="0" y="0"/>
            <a:chExt cx="3602232" cy="654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02232" cy="654680"/>
            </a:xfrm>
            <a:custGeom>
              <a:avLst/>
              <a:gdLst/>
              <a:ahLst/>
              <a:cxnLst/>
              <a:rect r="r" b="b" t="t" l="l"/>
              <a:pathLst>
                <a:path h="654680" w="3602232">
                  <a:moveTo>
                    <a:pt x="47401" y="0"/>
                  </a:moveTo>
                  <a:lnTo>
                    <a:pt x="3554831" y="0"/>
                  </a:lnTo>
                  <a:cubicBezTo>
                    <a:pt x="3581010" y="0"/>
                    <a:pt x="3602232" y="21222"/>
                    <a:pt x="3602232" y="47401"/>
                  </a:cubicBezTo>
                  <a:lnTo>
                    <a:pt x="3602232" y="607278"/>
                  </a:lnTo>
                  <a:cubicBezTo>
                    <a:pt x="3602232" y="633457"/>
                    <a:pt x="3581010" y="654680"/>
                    <a:pt x="3554831" y="654680"/>
                  </a:cubicBezTo>
                  <a:lnTo>
                    <a:pt x="47401" y="654680"/>
                  </a:lnTo>
                  <a:cubicBezTo>
                    <a:pt x="21222" y="654680"/>
                    <a:pt x="0" y="633457"/>
                    <a:pt x="0" y="607278"/>
                  </a:cubicBezTo>
                  <a:lnTo>
                    <a:pt x="0" y="47401"/>
                  </a:lnTo>
                  <a:cubicBezTo>
                    <a:pt x="0" y="21222"/>
                    <a:pt x="21222" y="0"/>
                    <a:pt x="4740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FFFFF">
                      <a:alpha val="80000"/>
                    </a:srgbClr>
                  </a:gs>
                  <a:gs pos="25000">
                    <a:srgbClr val="9B9A9A">
                      <a:alpha val="80000"/>
                    </a:srgbClr>
                  </a:gs>
                  <a:gs pos="50000">
                    <a:srgbClr val="FFFFFF">
                      <a:alpha val="80000"/>
                    </a:srgbClr>
                  </a:gs>
                  <a:gs pos="75000">
                    <a:srgbClr val="9C9B9B">
                      <a:alpha val="80000"/>
                    </a:srgbClr>
                  </a:gs>
                  <a:gs pos="100000">
                    <a:srgbClr val="FFFFFF">
                      <a:alpha val="8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3602232" cy="759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2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09778" y="2767335"/>
            <a:ext cx="306964" cy="345028"/>
          </a:xfrm>
          <a:custGeom>
            <a:avLst/>
            <a:gdLst/>
            <a:ahLst/>
            <a:cxnLst/>
            <a:rect r="r" b="b" t="t" l="l"/>
            <a:pathLst>
              <a:path h="345028" w="306964">
                <a:moveTo>
                  <a:pt x="0" y="0"/>
                </a:moveTo>
                <a:lnTo>
                  <a:pt x="306964" y="0"/>
                </a:lnTo>
                <a:lnTo>
                  <a:pt x="306964" y="345028"/>
                </a:lnTo>
                <a:lnTo>
                  <a:pt x="0" y="345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89376" y="4824665"/>
            <a:ext cx="306964" cy="345028"/>
          </a:xfrm>
          <a:custGeom>
            <a:avLst/>
            <a:gdLst/>
            <a:ahLst/>
            <a:cxnLst/>
            <a:rect r="r" b="b" t="t" l="l"/>
            <a:pathLst>
              <a:path h="345028" w="306964">
                <a:moveTo>
                  <a:pt x="0" y="0"/>
                </a:moveTo>
                <a:lnTo>
                  <a:pt x="306965" y="0"/>
                </a:lnTo>
                <a:lnTo>
                  <a:pt x="306965" y="345028"/>
                </a:lnTo>
                <a:lnTo>
                  <a:pt x="0" y="345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91617" y="1863637"/>
            <a:ext cx="4666330" cy="7738854"/>
          </a:xfrm>
          <a:custGeom>
            <a:avLst/>
            <a:gdLst/>
            <a:ahLst/>
            <a:cxnLst/>
            <a:rect r="r" b="b" t="t" l="l"/>
            <a:pathLst>
              <a:path h="7738854" w="4666330">
                <a:moveTo>
                  <a:pt x="0" y="0"/>
                </a:moveTo>
                <a:lnTo>
                  <a:pt x="4666331" y="0"/>
                </a:lnTo>
                <a:lnTo>
                  <a:pt x="4666331" y="7738854"/>
                </a:lnTo>
                <a:lnTo>
                  <a:pt x="0" y="77388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26" t="-3830" r="0" b="-383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738621"/>
            <a:ext cx="16230600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000" spc="-24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Methodology &amp; Analytical Fr</a:t>
            </a:r>
            <a:r>
              <a:rPr lang="en-US" sz="7000" spc="-24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amework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9778" y="3352421"/>
            <a:ext cx="757072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Tableau (Data Visualization &amp; Interactive Dashboard)</a:t>
            </a: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Microsoft Excel (Data Pr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eparation &amp; Preprocessing)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7242" y="2770939"/>
            <a:ext cx="3820323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599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Tools Used: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9778" y="5399689"/>
            <a:ext cx="916509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Categorical Variables: Department, Job Role, Attrition, Overtime</a:t>
            </a: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Nume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rical Variables: Mon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thly Income, Years at Company, 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6841" y="4828269"/>
            <a:ext cx="3820323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599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 Structure: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6528322"/>
            <a:ext cx="9799650" cy="2729978"/>
            <a:chOff x="0" y="0"/>
            <a:chExt cx="3602232" cy="10035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02232" cy="1003507"/>
            </a:xfrm>
            <a:custGeom>
              <a:avLst/>
              <a:gdLst/>
              <a:ahLst/>
              <a:cxnLst/>
              <a:rect r="r" b="b" t="t" l="l"/>
              <a:pathLst>
                <a:path h="1003507" w="3602232">
                  <a:moveTo>
                    <a:pt x="47401" y="0"/>
                  </a:moveTo>
                  <a:lnTo>
                    <a:pt x="3554831" y="0"/>
                  </a:lnTo>
                  <a:cubicBezTo>
                    <a:pt x="3581010" y="0"/>
                    <a:pt x="3602232" y="21222"/>
                    <a:pt x="3602232" y="47401"/>
                  </a:cubicBezTo>
                  <a:lnTo>
                    <a:pt x="3602232" y="956105"/>
                  </a:lnTo>
                  <a:cubicBezTo>
                    <a:pt x="3602232" y="982284"/>
                    <a:pt x="3581010" y="1003507"/>
                    <a:pt x="3554831" y="1003507"/>
                  </a:cubicBezTo>
                  <a:lnTo>
                    <a:pt x="47401" y="1003507"/>
                  </a:lnTo>
                  <a:cubicBezTo>
                    <a:pt x="21222" y="1003507"/>
                    <a:pt x="0" y="982284"/>
                    <a:pt x="0" y="956105"/>
                  </a:cubicBezTo>
                  <a:lnTo>
                    <a:pt x="0" y="47401"/>
                  </a:lnTo>
                  <a:cubicBezTo>
                    <a:pt x="0" y="21222"/>
                    <a:pt x="21222" y="0"/>
                    <a:pt x="4740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FFFFF">
                      <a:alpha val="80000"/>
                    </a:srgbClr>
                  </a:gs>
                  <a:gs pos="25000">
                    <a:srgbClr val="9B9A9A">
                      <a:alpha val="80000"/>
                    </a:srgbClr>
                  </a:gs>
                  <a:gs pos="50000">
                    <a:srgbClr val="FFFFFF">
                      <a:alpha val="80000"/>
                    </a:srgbClr>
                  </a:gs>
                  <a:gs pos="75000">
                    <a:srgbClr val="9C9B9B">
                      <a:alpha val="80000"/>
                    </a:srgbClr>
                  </a:gs>
                  <a:gs pos="100000">
                    <a:srgbClr val="FFFFFF">
                      <a:alpha val="8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3602232" cy="110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2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09778" y="7423354"/>
            <a:ext cx="9165090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Attrition Rate Calculation (calculated field)</a:t>
            </a: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Risk Segmentation (Low, Medium, High)</a:t>
            </a: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Tenure Binning (0–5, 5–10, 10+ years)</a:t>
            </a: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Comparative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Analys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is (category vs attrition)</a:t>
            </a: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tribution Analysis (income and tenure patterns)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86841" y="6847409"/>
            <a:ext cx="3820323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599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Analytical Methods: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C7257">
                <a:alpha val="100000"/>
              </a:srgbClr>
            </a:gs>
            <a:gs pos="50000">
              <a:srgbClr val="2F472C">
                <a:alpha val="100000"/>
              </a:srgbClr>
            </a:gs>
            <a:gs pos="100000">
              <a:srgbClr val="1F371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93761" y="1831009"/>
            <a:ext cx="14700477" cy="7699375"/>
          </a:xfrm>
          <a:custGeom>
            <a:avLst/>
            <a:gdLst/>
            <a:ahLst/>
            <a:cxnLst/>
            <a:rect r="r" b="b" t="t" l="l"/>
            <a:pathLst>
              <a:path h="7699375" w="14700477">
                <a:moveTo>
                  <a:pt x="0" y="0"/>
                </a:moveTo>
                <a:lnTo>
                  <a:pt x="14700478" y="0"/>
                </a:lnTo>
                <a:lnTo>
                  <a:pt x="14700478" y="7699375"/>
                </a:lnTo>
                <a:lnTo>
                  <a:pt x="0" y="7699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55625"/>
            <a:ext cx="16230600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000" spc="-24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Full Dashboard Overvi</a:t>
            </a:r>
            <a:r>
              <a:rPr lang="en-US" sz="7000" spc="-24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C7257">
                <a:alpha val="100000"/>
              </a:srgbClr>
            </a:gs>
            <a:gs pos="50000">
              <a:srgbClr val="2F472C">
                <a:alpha val="100000"/>
              </a:srgbClr>
            </a:gs>
            <a:gs pos="100000">
              <a:srgbClr val="1F371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086" y="1762241"/>
            <a:ext cx="16230600" cy="551995"/>
            <a:chOff x="0" y="0"/>
            <a:chExt cx="21640800" cy="73599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735993"/>
              <a:chOff x="0" y="0"/>
              <a:chExt cx="4274726" cy="1453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74726" cy="145381"/>
              </a:xfrm>
              <a:custGeom>
                <a:avLst/>
                <a:gdLst/>
                <a:ahLst/>
                <a:cxnLst/>
                <a:rect r="r" b="b" t="t" l="l"/>
                <a:pathLst>
                  <a:path h="145381" w="4274726">
                    <a:moveTo>
                      <a:pt x="28620" y="0"/>
                    </a:moveTo>
                    <a:lnTo>
                      <a:pt x="4246106" y="0"/>
                    </a:lnTo>
                    <a:cubicBezTo>
                      <a:pt x="4261912" y="0"/>
                      <a:pt x="4274726" y="12813"/>
                      <a:pt x="4274726" y="28620"/>
                    </a:cubicBezTo>
                    <a:lnTo>
                      <a:pt x="4274726" y="116762"/>
                    </a:lnTo>
                    <a:cubicBezTo>
                      <a:pt x="4274726" y="132568"/>
                      <a:pt x="4261912" y="145381"/>
                      <a:pt x="4246106" y="145381"/>
                    </a:cubicBezTo>
                    <a:lnTo>
                      <a:pt x="28620" y="145381"/>
                    </a:lnTo>
                    <a:cubicBezTo>
                      <a:pt x="12813" y="145381"/>
                      <a:pt x="0" y="132568"/>
                      <a:pt x="0" y="116762"/>
                    </a:cubicBezTo>
                    <a:lnTo>
                      <a:pt x="0" y="28620"/>
                    </a:lnTo>
                    <a:cubicBezTo>
                      <a:pt x="0" y="12813"/>
                      <a:pt x="12813" y="0"/>
                      <a:pt x="286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3B18A">
                      <a:alpha val="4000"/>
                    </a:srgbClr>
                  </a:gs>
                  <a:gs pos="100000">
                    <a:srgbClr val="F4F1ED">
                      <a:alpha val="31600"/>
                    </a:srgbClr>
                  </a:gs>
                </a:gsLst>
                <a:lin ang="2700000"/>
              </a:gradFill>
              <a:ln w="38100" cap="rnd"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25000">
                      <a:srgbClr val="9B9A9A">
                        <a:alpha val="80000"/>
                      </a:srgbClr>
                    </a:gs>
                    <a:gs pos="50000">
                      <a:srgbClr val="FFFFFF">
                        <a:alpha val="80000"/>
                      </a:srgbClr>
                    </a:gs>
                    <a:gs pos="75000">
                      <a:srgbClr val="9C9B9B">
                        <a:alpha val="8000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04775"/>
                <a:ext cx="4274726" cy="2501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2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519379" y="119288"/>
              <a:ext cx="20602042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A</a:t>
              </a:r>
              <a:r>
                <a:rPr lang="en-US" sz="2000" strike="noStrike" u="none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ttrition is not evenly distributed — it is concentrated in specific workforce conditions</a:t>
              </a:r>
            </a:p>
          </p:txBody>
        </p:sp>
      </p:grpSp>
      <p:sp>
        <p:nvSpPr>
          <p:cNvPr name="AutoShape 7" id="7"/>
          <p:cNvSpPr/>
          <p:nvPr/>
        </p:nvSpPr>
        <p:spPr>
          <a:xfrm flipH="true">
            <a:off x="775369" y="5685210"/>
            <a:ext cx="16593446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363860" y="2742671"/>
            <a:ext cx="0" cy="5899613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56354" y="9176162"/>
            <a:ext cx="16230600" cy="904420"/>
            <a:chOff x="0" y="0"/>
            <a:chExt cx="21640800" cy="120589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1640800" cy="1205893"/>
              <a:chOff x="0" y="0"/>
              <a:chExt cx="4274726" cy="23820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274726" cy="238201"/>
              </a:xfrm>
              <a:custGeom>
                <a:avLst/>
                <a:gdLst/>
                <a:ahLst/>
                <a:cxnLst/>
                <a:rect r="r" b="b" t="t" l="l"/>
                <a:pathLst>
                  <a:path h="238201" w="4274726">
                    <a:moveTo>
                      <a:pt x="28620" y="0"/>
                    </a:moveTo>
                    <a:lnTo>
                      <a:pt x="4246106" y="0"/>
                    </a:lnTo>
                    <a:cubicBezTo>
                      <a:pt x="4261912" y="0"/>
                      <a:pt x="4274726" y="12813"/>
                      <a:pt x="4274726" y="28620"/>
                    </a:cubicBezTo>
                    <a:lnTo>
                      <a:pt x="4274726" y="209581"/>
                    </a:lnTo>
                    <a:cubicBezTo>
                      <a:pt x="4274726" y="225388"/>
                      <a:pt x="4261912" y="238201"/>
                      <a:pt x="4246106" y="238201"/>
                    </a:cubicBezTo>
                    <a:lnTo>
                      <a:pt x="28620" y="238201"/>
                    </a:lnTo>
                    <a:cubicBezTo>
                      <a:pt x="12813" y="238201"/>
                      <a:pt x="0" y="225388"/>
                      <a:pt x="0" y="209581"/>
                    </a:cubicBezTo>
                    <a:lnTo>
                      <a:pt x="0" y="28620"/>
                    </a:lnTo>
                    <a:cubicBezTo>
                      <a:pt x="0" y="12813"/>
                      <a:pt x="12813" y="0"/>
                      <a:pt x="286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3B18A">
                      <a:alpha val="4000"/>
                    </a:srgbClr>
                  </a:gs>
                  <a:gs pos="100000">
                    <a:srgbClr val="F4F1ED">
                      <a:alpha val="31600"/>
                    </a:srgbClr>
                  </a:gs>
                </a:gsLst>
                <a:lin ang="2700000"/>
              </a:gradFill>
              <a:ln w="38100" cap="rnd"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25000">
                      <a:srgbClr val="9B9A9A">
                        <a:alpha val="80000"/>
                      </a:srgbClr>
                    </a:gs>
                    <a:gs pos="50000">
                      <a:srgbClr val="FFFFFF">
                        <a:alpha val="80000"/>
                      </a:srgbClr>
                    </a:gs>
                    <a:gs pos="75000">
                      <a:srgbClr val="9C9B9B">
                        <a:alpha val="8000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04775"/>
                <a:ext cx="4274726" cy="3429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2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19379" y="119288"/>
              <a:ext cx="21121421" cy="919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H</a:t>
              </a:r>
              <a:r>
                <a:rPr lang="en-US" sz="2000" strike="noStrike" u="none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ighest Risk Condition: Early tenure + Overtime + Low income + High-pressure roles</a:t>
              </a:r>
            </a:p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→ Attrition emerges from combined stress factors, not single variables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363860" y="5766840"/>
            <a:ext cx="5458219" cy="2980887"/>
          </a:xfrm>
          <a:custGeom>
            <a:avLst/>
            <a:gdLst/>
            <a:ahLst/>
            <a:cxnLst/>
            <a:rect r="r" b="b" t="t" l="l"/>
            <a:pathLst>
              <a:path h="2980887" w="5458219">
                <a:moveTo>
                  <a:pt x="0" y="0"/>
                </a:moveTo>
                <a:lnTo>
                  <a:pt x="5458218" y="0"/>
                </a:lnTo>
                <a:lnTo>
                  <a:pt x="5458218" y="2980887"/>
                </a:lnTo>
                <a:lnTo>
                  <a:pt x="0" y="2980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-31" t="0" r="-11423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3765305" y="5898789"/>
            <a:ext cx="802165" cy="910897"/>
          </a:xfrm>
          <a:custGeom>
            <a:avLst/>
            <a:gdLst/>
            <a:ahLst/>
            <a:cxnLst/>
            <a:rect r="r" b="b" t="t" l="l"/>
            <a:pathLst>
              <a:path h="910897" w="802165">
                <a:moveTo>
                  <a:pt x="0" y="0"/>
                </a:moveTo>
                <a:lnTo>
                  <a:pt x="802164" y="0"/>
                </a:lnTo>
                <a:lnTo>
                  <a:pt x="802164" y="910897"/>
                </a:lnTo>
                <a:lnTo>
                  <a:pt x="0" y="910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</a:blip>
            <a:stretch>
              <a:fillRect l="-1308845" t="0" r="0" b="-50792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2804443" y="2742671"/>
            <a:ext cx="6559417" cy="2918726"/>
          </a:xfrm>
          <a:custGeom>
            <a:avLst/>
            <a:gdLst/>
            <a:ahLst/>
            <a:cxnLst/>
            <a:rect r="r" b="b" t="t" l="l"/>
            <a:pathLst>
              <a:path h="2918726" w="6559417">
                <a:moveTo>
                  <a:pt x="0" y="0"/>
                </a:moveTo>
                <a:lnTo>
                  <a:pt x="6559417" y="0"/>
                </a:lnTo>
                <a:lnTo>
                  <a:pt x="6559417" y="2918726"/>
                </a:lnTo>
                <a:lnTo>
                  <a:pt x="0" y="2918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 l="-1561" t="0" r="-5337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847305" y="5762078"/>
            <a:ext cx="6516555" cy="2976125"/>
          </a:xfrm>
          <a:custGeom>
            <a:avLst/>
            <a:gdLst/>
            <a:ahLst/>
            <a:cxnLst/>
            <a:rect r="r" b="b" t="t" l="l"/>
            <a:pathLst>
              <a:path h="2976125" w="6516555">
                <a:moveTo>
                  <a:pt x="0" y="0"/>
                </a:moveTo>
                <a:lnTo>
                  <a:pt x="6516555" y="0"/>
                </a:lnTo>
                <a:lnTo>
                  <a:pt x="6516555" y="2976124"/>
                </a:lnTo>
                <a:lnTo>
                  <a:pt x="0" y="29761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</a:blip>
            <a:stretch>
              <a:fillRect l="0" t="-160" r="0" b="-7355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9405392" y="2742671"/>
            <a:ext cx="5416686" cy="2918726"/>
          </a:xfrm>
          <a:custGeom>
            <a:avLst/>
            <a:gdLst/>
            <a:ahLst/>
            <a:cxnLst/>
            <a:rect r="r" b="b" t="t" l="l"/>
            <a:pathLst>
              <a:path h="2918726" w="5416686">
                <a:moveTo>
                  <a:pt x="0" y="0"/>
                </a:moveTo>
                <a:lnTo>
                  <a:pt x="5416686" y="0"/>
                </a:lnTo>
                <a:lnTo>
                  <a:pt x="5416686" y="2918726"/>
                </a:lnTo>
                <a:lnTo>
                  <a:pt x="0" y="29187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0000"/>
            </a:blip>
            <a:stretch>
              <a:fillRect l="0" t="0" r="-16505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748146"/>
            <a:ext cx="16421100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6999" spc="-24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What</a:t>
            </a:r>
            <a:r>
              <a:rPr lang="en-US" sz="6999" spc="-24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Actually Drives Attrition?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4746" y="3682511"/>
            <a:ext cx="1841597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Overtime → ~30.5% attrition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No overtime → ~10.4%</a:t>
            </a:r>
          </a:p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Nearly 3× higher risk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44536" y="3682511"/>
            <a:ext cx="2424279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0–5 years → highest attrition (~18%)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 years → minimal attrition</a:t>
            </a:r>
          </a:p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→ Instability at entry stage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6936" y="6614127"/>
            <a:ext cx="2157044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Attrition cluster: ₹3K–₹4K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Retention cluster: ₹5K–₹6K</a:t>
            </a:r>
          </a:p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→ Lower income reduces retention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44536" y="6880827"/>
            <a:ext cx="2331764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ales → ~20.6% a</a:t>
            </a: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trition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L</a:t>
            </a: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 Technician → ~23.9% (highes</a:t>
            </a: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</a:p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→ High-press</a:t>
            </a: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 roles drive exit</a:t>
            </a:r>
            <a:r>
              <a:rPr lang="en-US" sz="18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765305" y="2960363"/>
            <a:ext cx="802165" cy="910897"/>
          </a:xfrm>
          <a:custGeom>
            <a:avLst/>
            <a:gdLst/>
            <a:ahLst/>
            <a:cxnLst/>
            <a:rect r="r" b="b" t="t" l="l"/>
            <a:pathLst>
              <a:path h="910897" w="802165">
                <a:moveTo>
                  <a:pt x="0" y="0"/>
                </a:moveTo>
                <a:lnTo>
                  <a:pt x="802164" y="0"/>
                </a:lnTo>
                <a:lnTo>
                  <a:pt x="802164" y="910897"/>
                </a:lnTo>
                <a:lnTo>
                  <a:pt x="0" y="910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</a:blip>
            <a:stretch>
              <a:fillRect l="-1308845" t="0" r="0" b="-50792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8341835" y="4179563"/>
            <a:ext cx="802165" cy="910897"/>
          </a:xfrm>
          <a:custGeom>
            <a:avLst/>
            <a:gdLst/>
            <a:ahLst/>
            <a:cxnLst/>
            <a:rect r="r" b="b" t="t" l="l"/>
            <a:pathLst>
              <a:path h="910897" w="802165">
                <a:moveTo>
                  <a:pt x="0" y="0"/>
                </a:moveTo>
                <a:lnTo>
                  <a:pt x="802165" y="0"/>
                </a:lnTo>
                <a:lnTo>
                  <a:pt x="802165" y="910897"/>
                </a:lnTo>
                <a:lnTo>
                  <a:pt x="0" y="910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</a:blip>
            <a:stretch>
              <a:fillRect l="-1308845" t="0" r="0" b="-50792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6" id="26"/>
          <p:cNvGrpSpPr/>
          <p:nvPr/>
        </p:nvGrpSpPr>
        <p:grpSpPr>
          <a:xfrm rot="0">
            <a:off x="856354" y="2775992"/>
            <a:ext cx="1789117" cy="906520"/>
            <a:chOff x="0" y="0"/>
            <a:chExt cx="2385490" cy="120869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385490" cy="1208693"/>
              <a:chOff x="0" y="0"/>
              <a:chExt cx="669498" cy="33922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69498" cy="339225"/>
              </a:xfrm>
              <a:custGeom>
                <a:avLst/>
                <a:gdLst/>
                <a:ahLst/>
                <a:cxnLst/>
                <a:rect r="r" b="b" t="t" l="l"/>
                <a:pathLst>
                  <a:path h="339225" w="669498">
                    <a:moveTo>
                      <a:pt x="106596" y="0"/>
                    </a:moveTo>
                    <a:lnTo>
                      <a:pt x="562902" y="0"/>
                    </a:lnTo>
                    <a:cubicBezTo>
                      <a:pt x="591173" y="0"/>
                      <a:pt x="618286" y="11231"/>
                      <a:pt x="638277" y="31221"/>
                    </a:cubicBezTo>
                    <a:cubicBezTo>
                      <a:pt x="658268" y="51212"/>
                      <a:pt x="669498" y="78325"/>
                      <a:pt x="669498" y="106596"/>
                    </a:cubicBezTo>
                    <a:lnTo>
                      <a:pt x="669498" y="232629"/>
                    </a:lnTo>
                    <a:cubicBezTo>
                      <a:pt x="669498" y="260900"/>
                      <a:pt x="658268" y="288013"/>
                      <a:pt x="638277" y="308004"/>
                    </a:cubicBezTo>
                    <a:cubicBezTo>
                      <a:pt x="618286" y="327994"/>
                      <a:pt x="591173" y="339225"/>
                      <a:pt x="562902" y="339225"/>
                    </a:cubicBezTo>
                    <a:lnTo>
                      <a:pt x="106596" y="339225"/>
                    </a:lnTo>
                    <a:cubicBezTo>
                      <a:pt x="78325" y="339225"/>
                      <a:pt x="51212" y="327994"/>
                      <a:pt x="31221" y="308004"/>
                    </a:cubicBezTo>
                    <a:cubicBezTo>
                      <a:pt x="11231" y="288013"/>
                      <a:pt x="0" y="260900"/>
                      <a:pt x="0" y="232629"/>
                    </a:cubicBezTo>
                    <a:lnTo>
                      <a:pt x="0" y="106596"/>
                    </a:lnTo>
                    <a:cubicBezTo>
                      <a:pt x="0" y="78325"/>
                      <a:pt x="11231" y="51212"/>
                      <a:pt x="31221" y="31221"/>
                    </a:cubicBezTo>
                    <a:cubicBezTo>
                      <a:pt x="51212" y="11231"/>
                      <a:pt x="78325" y="0"/>
                      <a:pt x="10659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3B18A">
                      <a:alpha val="4000"/>
                    </a:srgbClr>
                  </a:gs>
                  <a:gs pos="100000">
                    <a:srgbClr val="F4F1ED">
                      <a:alpha val="31600"/>
                    </a:srgbClr>
                  </a:gs>
                </a:gsLst>
                <a:lin ang="2700000"/>
              </a:gradFill>
              <a:ln w="38100" cap="rnd"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25000">
                      <a:srgbClr val="9B9A9A">
                        <a:alpha val="80000"/>
                      </a:srgbClr>
                    </a:gs>
                    <a:gs pos="50000">
                      <a:srgbClr val="FFFFFF">
                        <a:alpha val="80000"/>
                      </a:srgbClr>
                    </a:gs>
                    <a:gs pos="75000">
                      <a:srgbClr val="9C9B9B">
                        <a:alpha val="8000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04775"/>
                <a:ext cx="669498" cy="444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2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223906" y="442454"/>
              <a:ext cx="288064" cy="323784"/>
            </a:xfrm>
            <a:custGeom>
              <a:avLst/>
              <a:gdLst/>
              <a:ahLst/>
              <a:cxnLst/>
              <a:rect r="r" b="b" t="t" l="l"/>
              <a:pathLst>
                <a:path h="323784" w="288064">
                  <a:moveTo>
                    <a:pt x="0" y="0"/>
                  </a:moveTo>
                  <a:lnTo>
                    <a:pt x="288065" y="0"/>
                  </a:lnTo>
                  <a:lnTo>
                    <a:pt x="288065" y="323785"/>
                  </a:lnTo>
                  <a:lnTo>
                    <a:pt x="0" y="32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690741" y="258713"/>
              <a:ext cx="1541125" cy="700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2"/>
                </a:lnSpc>
              </a:pPr>
              <a:r>
                <a:rPr lang="en-US" sz="1829" b="true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Workload</a:t>
              </a:r>
            </a:p>
            <a:p>
              <a:pPr algn="l">
                <a:lnSpc>
                  <a:spcPts val="2012"/>
                </a:lnSpc>
              </a:pPr>
              <a:r>
                <a:rPr lang="en-US" sz="1829" b="true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 Effect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56354" y="5726339"/>
            <a:ext cx="1789117" cy="863223"/>
            <a:chOff x="0" y="0"/>
            <a:chExt cx="2385490" cy="1150964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2385490" cy="1150964"/>
              <a:chOff x="0" y="0"/>
              <a:chExt cx="669498" cy="32302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69498" cy="323023"/>
              </a:xfrm>
              <a:custGeom>
                <a:avLst/>
                <a:gdLst/>
                <a:ahLst/>
                <a:cxnLst/>
                <a:rect r="r" b="b" t="t" l="l"/>
                <a:pathLst>
                  <a:path h="323023" w="669498">
                    <a:moveTo>
                      <a:pt x="106596" y="0"/>
                    </a:moveTo>
                    <a:lnTo>
                      <a:pt x="562902" y="0"/>
                    </a:lnTo>
                    <a:cubicBezTo>
                      <a:pt x="591173" y="0"/>
                      <a:pt x="618286" y="11231"/>
                      <a:pt x="638277" y="31221"/>
                    </a:cubicBezTo>
                    <a:cubicBezTo>
                      <a:pt x="658268" y="51212"/>
                      <a:pt x="669498" y="78325"/>
                      <a:pt x="669498" y="106596"/>
                    </a:cubicBezTo>
                    <a:lnTo>
                      <a:pt x="669498" y="216427"/>
                    </a:lnTo>
                    <a:cubicBezTo>
                      <a:pt x="669498" y="244698"/>
                      <a:pt x="658268" y="271811"/>
                      <a:pt x="638277" y="291802"/>
                    </a:cubicBezTo>
                    <a:cubicBezTo>
                      <a:pt x="618286" y="311792"/>
                      <a:pt x="591173" y="323023"/>
                      <a:pt x="562902" y="323023"/>
                    </a:cubicBezTo>
                    <a:lnTo>
                      <a:pt x="106596" y="323023"/>
                    </a:lnTo>
                    <a:cubicBezTo>
                      <a:pt x="78325" y="323023"/>
                      <a:pt x="51212" y="311792"/>
                      <a:pt x="31221" y="291802"/>
                    </a:cubicBezTo>
                    <a:cubicBezTo>
                      <a:pt x="11231" y="271811"/>
                      <a:pt x="0" y="244698"/>
                      <a:pt x="0" y="216427"/>
                    </a:cubicBezTo>
                    <a:lnTo>
                      <a:pt x="0" y="106596"/>
                    </a:lnTo>
                    <a:cubicBezTo>
                      <a:pt x="0" y="78325"/>
                      <a:pt x="11231" y="51212"/>
                      <a:pt x="31221" y="31221"/>
                    </a:cubicBezTo>
                    <a:cubicBezTo>
                      <a:pt x="51212" y="11231"/>
                      <a:pt x="78325" y="0"/>
                      <a:pt x="10659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3B18A">
                      <a:alpha val="4000"/>
                    </a:srgbClr>
                  </a:gs>
                  <a:gs pos="100000">
                    <a:srgbClr val="F4F1ED">
                      <a:alpha val="31600"/>
                    </a:srgbClr>
                  </a:gs>
                </a:gsLst>
                <a:lin ang="2700000"/>
              </a:gradFill>
              <a:ln w="38100" cap="rnd"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25000">
                      <a:srgbClr val="9B9A9A">
                        <a:alpha val="80000"/>
                      </a:srgbClr>
                    </a:gs>
                    <a:gs pos="50000">
                      <a:srgbClr val="FFFFFF">
                        <a:alpha val="80000"/>
                      </a:srgbClr>
                    </a:gs>
                    <a:gs pos="75000">
                      <a:srgbClr val="9C9B9B">
                        <a:alpha val="8000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104775"/>
                <a:ext cx="669498" cy="4277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2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6" id="36"/>
            <p:cNvSpPr/>
            <p:nvPr/>
          </p:nvSpPr>
          <p:spPr>
            <a:xfrm flipH="false" flipV="false" rot="0">
              <a:off x="223906" y="384725"/>
              <a:ext cx="288064" cy="323784"/>
            </a:xfrm>
            <a:custGeom>
              <a:avLst/>
              <a:gdLst/>
              <a:ahLst/>
              <a:cxnLst/>
              <a:rect r="r" b="b" t="t" l="l"/>
              <a:pathLst>
                <a:path h="323784" w="288064">
                  <a:moveTo>
                    <a:pt x="0" y="0"/>
                  </a:moveTo>
                  <a:lnTo>
                    <a:pt x="288065" y="0"/>
                  </a:lnTo>
                  <a:lnTo>
                    <a:pt x="288065" y="323785"/>
                  </a:lnTo>
                  <a:lnTo>
                    <a:pt x="0" y="32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690741" y="200984"/>
              <a:ext cx="1541125" cy="700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2"/>
                </a:lnSpc>
              </a:pPr>
              <a:r>
                <a:rPr lang="en-US" sz="1829" b="true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Income Pressure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898278" y="2778508"/>
            <a:ext cx="2178788" cy="901488"/>
            <a:chOff x="0" y="0"/>
            <a:chExt cx="2905051" cy="1201984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2905051" cy="1201984"/>
              <a:chOff x="0" y="0"/>
              <a:chExt cx="815315" cy="33734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5315" cy="337342"/>
              </a:xfrm>
              <a:custGeom>
                <a:avLst/>
                <a:gdLst/>
                <a:ahLst/>
                <a:cxnLst/>
                <a:rect r="r" b="b" t="t" l="l"/>
                <a:pathLst>
                  <a:path h="337342" w="815315">
                    <a:moveTo>
                      <a:pt x="87532" y="0"/>
                    </a:moveTo>
                    <a:lnTo>
                      <a:pt x="727784" y="0"/>
                    </a:lnTo>
                    <a:cubicBezTo>
                      <a:pt x="750998" y="0"/>
                      <a:pt x="773262" y="9222"/>
                      <a:pt x="789678" y="25637"/>
                    </a:cubicBezTo>
                    <a:cubicBezTo>
                      <a:pt x="806093" y="42053"/>
                      <a:pt x="815315" y="64317"/>
                      <a:pt x="815315" y="87532"/>
                    </a:cubicBezTo>
                    <a:lnTo>
                      <a:pt x="815315" y="249810"/>
                    </a:lnTo>
                    <a:cubicBezTo>
                      <a:pt x="815315" y="273025"/>
                      <a:pt x="806093" y="295289"/>
                      <a:pt x="789678" y="311705"/>
                    </a:cubicBezTo>
                    <a:cubicBezTo>
                      <a:pt x="773262" y="328120"/>
                      <a:pt x="750998" y="337342"/>
                      <a:pt x="727784" y="337342"/>
                    </a:cubicBezTo>
                    <a:lnTo>
                      <a:pt x="87532" y="337342"/>
                    </a:lnTo>
                    <a:cubicBezTo>
                      <a:pt x="64317" y="337342"/>
                      <a:pt x="42053" y="328120"/>
                      <a:pt x="25637" y="311705"/>
                    </a:cubicBezTo>
                    <a:cubicBezTo>
                      <a:pt x="9222" y="295289"/>
                      <a:pt x="0" y="273025"/>
                      <a:pt x="0" y="249810"/>
                    </a:cubicBezTo>
                    <a:lnTo>
                      <a:pt x="0" y="87532"/>
                    </a:lnTo>
                    <a:cubicBezTo>
                      <a:pt x="0" y="64317"/>
                      <a:pt x="9222" y="42053"/>
                      <a:pt x="25637" y="25637"/>
                    </a:cubicBezTo>
                    <a:cubicBezTo>
                      <a:pt x="42053" y="9222"/>
                      <a:pt x="64317" y="0"/>
                      <a:pt x="87532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3B18A">
                      <a:alpha val="4000"/>
                    </a:srgbClr>
                  </a:gs>
                  <a:gs pos="100000">
                    <a:srgbClr val="F4F1ED">
                      <a:alpha val="31600"/>
                    </a:srgbClr>
                  </a:gs>
                </a:gsLst>
                <a:lin ang="2700000"/>
              </a:gradFill>
              <a:ln w="38100" cap="rnd"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25000">
                      <a:srgbClr val="9B9A9A">
                        <a:alpha val="80000"/>
                      </a:srgbClr>
                    </a:gs>
                    <a:gs pos="50000">
                      <a:srgbClr val="FFFFFF">
                        <a:alpha val="80000"/>
                      </a:srgbClr>
                    </a:gs>
                    <a:gs pos="75000">
                      <a:srgbClr val="9C9B9B">
                        <a:alpha val="8000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104775"/>
                <a:ext cx="815315" cy="4421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2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223906" y="439100"/>
              <a:ext cx="288064" cy="323784"/>
            </a:xfrm>
            <a:custGeom>
              <a:avLst/>
              <a:gdLst/>
              <a:ahLst/>
              <a:cxnLst/>
              <a:rect r="r" b="b" t="t" l="l"/>
              <a:pathLst>
                <a:path h="323784" w="288064">
                  <a:moveTo>
                    <a:pt x="0" y="0"/>
                  </a:moveTo>
                  <a:lnTo>
                    <a:pt x="288065" y="0"/>
                  </a:lnTo>
                  <a:lnTo>
                    <a:pt x="288065" y="323784"/>
                  </a:lnTo>
                  <a:lnTo>
                    <a:pt x="0" y="323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690741" y="255359"/>
              <a:ext cx="1945228" cy="700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2"/>
                </a:lnSpc>
              </a:pPr>
              <a:r>
                <a:rPr lang="en-US" sz="1829" b="true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Early Tenure </a:t>
              </a:r>
            </a:p>
            <a:p>
              <a:pPr algn="l">
                <a:lnSpc>
                  <a:spcPts val="2012"/>
                </a:lnSpc>
              </a:pPr>
              <a:r>
                <a:rPr lang="en-US" sz="1829" b="true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Risk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944536" y="5783340"/>
            <a:ext cx="2178788" cy="1026346"/>
            <a:chOff x="0" y="0"/>
            <a:chExt cx="2905051" cy="1368461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2905051" cy="1368461"/>
              <a:chOff x="0" y="0"/>
              <a:chExt cx="815315" cy="384065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5315" cy="384065"/>
              </a:xfrm>
              <a:custGeom>
                <a:avLst/>
                <a:gdLst/>
                <a:ahLst/>
                <a:cxnLst/>
                <a:rect r="r" b="b" t="t" l="l"/>
                <a:pathLst>
                  <a:path h="384065" w="815315">
                    <a:moveTo>
                      <a:pt x="87532" y="0"/>
                    </a:moveTo>
                    <a:lnTo>
                      <a:pt x="727784" y="0"/>
                    </a:lnTo>
                    <a:cubicBezTo>
                      <a:pt x="750998" y="0"/>
                      <a:pt x="773262" y="9222"/>
                      <a:pt x="789678" y="25637"/>
                    </a:cubicBezTo>
                    <a:cubicBezTo>
                      <a:pt x="806093" y="42053"/>
                      <a:pt x="815315" y="64317"/>
                      <a:pt x="815315" y="87532"/>
                    </a:cubicBezTo>
                    <a:lnTo>
                      <a:pt x="815315" y="296533"/>
                    </a:lnTo>
                    <a:cubicBezTo>
                      <a:pt x="815315" y="319748"/>
                      <a:pt x="806093" y="342012"/>
                      <a:pt x="789678" y="358427"/>
                    </a:cubicBezTo>
                    <a:cubicBezTo>
                      <a:pt x="773262" y="374843"/>
                      <a:pt x="750998" y="384065"/>
                      <a:pt x="727784" y="384065"/>
                    </a:cubicBezTo>
                    <a:lnTo>
                      <a:pt x="87532" y="384065"/>
                    </a:lnTo>
                    <a:cubicBezTo>
                      <a:pt x="64317" y="384065"/>
                      <a:pt x="42053" y="374843"/>
                      <a:pt x="25637" y="358427"/>
                    </a:cubicBezTo>
                    <a:cubicBezTo>
                      <a:pt x="9222" y="342012"/>
                      <a:pt x="0" y="319748"/>
                      <a:pt x="0" y="296533"/>
                    </a:cubicBezTo>
                    <a:lnTo>
                      <a:pt x="0" y="87532"/>
                    </a:lnTo>
                    <a:cubicBezTo>
                      <a:pt x="0" y="64317"/>
                      <a:pt x="9222" y="42053"/>
                      <a:pt x="25637" y="25637"/>
                    </a:cubicBezTo>
                    <a:cubicBezTo>
                      <a:pt x="42053" y="9222"/>
                      <a:pt x="64317" y="0"/>
                      <a:pt x="87532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3B18A">
                      <a:alpha val="4000"/>
                    </a:srgbClr>
                  </a:gs>
                  <a:gs pos="100000">
                    <a:srgbClr val="F4F1ED">
                      <a:alpha val="31600"/>
                    </a:srgbClr>
                  </a:gs>
                </a:gsLst>
                <a:lin ang="2700000"/>
              </a:gradFill>
              <a:ln w="38100" cap="rnd"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25000">
                      <a:srgbClr val="9B9A9A">
                        <a:alpha val="80000"/>
                      </a:srgbClr>
                    </a:gs>
                    <a:gs pos="50000">
                      <a:srgbClr val="FFFFFF">
                        <a:alpha val="80000"/>
                      </a:srgbClr>
                    </a:gs>
                    <a:gs pos="75000">
                      <a:srgbClr val="9C9B9B">
                        <a:alpha val="8000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104775"/>
                <a:ext cx="815315" cy="4888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2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8" id="48"/>
            <p:cNvSpPr/>
            <p:nvPr/>
          </p:nvSpPr>
          <p:spPr>
            <a:xfrm flipH="false" flipV="false" rot="0">
              <a:off x="223906" y="522338"/>
              <a:ext cx="288064" cy="323784"/>
            </a:xfrm>
            <a:custGeom>
              <a:avLst/>
              <a:gdLst/>
              <a:ahLst/>
              <a:cxnLst/>
              <a:rect r="r" b="b" t="t" l="l"/>
              <a:pathLst>
                <a:path h="323784" w="288064">
                  <a:moveTo>
                    <a:pt x="0" y="0"/>
                  </a:moveTo>
                  <a:lnTo>
                    <a:pt x="288065" y="0"/>
                  </a:lnTo>
                  <a:lnTo>
                    <a:pt x="288065" y="323785"/>
                  </a:lnTo>
                  <a:lnTo>
                    <a:pt x="0" y="32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690741" y="168765"/>
              <a:ext cx="2214309" cy="1040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2"/>
                </a:lnSpc>
              </a:pPr>
              <a:r>
                <a:rPr lang="en-US" sz="1829" b="true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Role &amp; Department Impact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C7257">
                <a:alpha val="100000"/>
              </a:srgbClr>
            </a:gs>
            <a:gs pos="50000">
              <a:srgbClr val="2F472C">
                <a:alpha val="100000"/>
              </a:srgbClr>
            </a:gs>
            <a:gs pos="100000">
              <a:srgbClr val="1F371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61212" y="2451851"/>
            <a:ext cx="5098088" cy="3347034"/>
            <a:chOff x="0" y="0"/>
            <a:chExt cx="1682742" cy="11047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2742" cy="1104766"/>
            </a:xfrm>
            <a:custGeom>
              <a:avLst/>
              <a:gdLst/>
              <a:ahLst/>
              <a:cxnLst/>
              <a:rect r="r" b="b" t="t" l="l"/>
              <a:pathLst>
                <a:path h="1104766" w="1682742">
                  <a:moveTo>
                    <a:pt x="30372" y="0"/>
                  </a:moveTo>
                  <a:lnTo>
                    <a:pt x="1652370" y="0"/>
                  </a:lnTo>
                  <a:cubicBezTo>
                    <a:pt x="1660425" y="0"/>
                    <a:pt x="1668150" y="3200"/>
                    <a:pt x="1673846" y="8896"/>
                  </a:cubicBezTo>
                  <a:cubicBezTo>
                    <a:pt x="1679542" y="14592"/>
                    <a:pt x="1682742" y="22317"/>
                    <a:pt x="1682742" y="30372"/>
                  </a:cubicBezTo>
                  <a:lnTo>
                    <a:pt x="1682742" y="1074394"/>
                  </a:lnTo>
                  <a:cubicBezTo>
                    <a:pt x="1682742" y="1082449"/>
                    <a:pt x="1679542" y="1090174"/>
                    <a:pt x="1673846" y="1095870"/>
                  </a:cubicBezTo>
                  <a:cubicBezTo>
                    <a:pt x="1668150" y="1101566"/>
                    <a:pt x="1660425" y="1104766"/>
                    <a:pt x="1652370" y="1104766"/>
                  </a:cubicBezTo>
                  <a:lnTo>
                    <a:pt x="30372" y="1104766"/>
                  </a:lnTo>
                  <a:cubicBezTo>
                    <a:pt x="22317" y="1104766"/>
                    <a:pt x="14592" y="1101566"/>
                    <a:pt x="8896" y="1095870"/>
                  </a:cubicBezTo>
                  <a:cubicBezTo>
                    <a:pt x="3200" y="1090174"/>
                    <a:pt x="0" y="1082449"/>
                    <a:pt x="0" y="1074394"/>
                  </a:cubicBezTo>
                  <a:lnTo>
                    <a:pt x="0" y="30372"/>
                  </a:lnTo>
                  <a:cubicBezTo>
                    <a:pt x="0" y="22317"/>
                    <a:pt x="3200" y="14592"/>
                    <a:pt x="8896" y="8896"/>
                  </a:cubicBezTo>
                  <a:cubicBezTo>
                    <a:pt x="14592" y="3200"/>
                    <a:pt x="22317" y="0"/>
                    <a:pt x="30372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FFFFFF">
                      <a:alpha val="80000"/>
                    </a:srgbClr>
                  </a:gs>
                  <a:gs pos="25000">
                    <a:srgbClr val="9B9A9A">
                      <a:alpha val="80000"/>
                    </a:srgbClr>
                  </a:gs>
                  <a:gs pos="50000">
                    <a:srgbClr val="FFFFFF">
                      <a:alpha val="80000"/>
                    </a:srgbClr>
                  </a:gs>
                  <a:gs pos="75000">
                    <a:srgbClr val="9C9B9B">
                      <a:alpha val="80000"/>
                    </a:srgbClr>
                  </a:gs>
                  <a:gs pos="100000">
                    <a:srgbClr val="FFFFFF">
                      <a:alpha val="8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682742" cy="1209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2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609830" y="2862585"/>
            <a:ext cx="306964" cy="345028"/>
          </a:xfrm>
          <a:custGeom>
            <a:avLst/>
            <a:gdLst/>
            <a:ahLst/>
            <a:cxnLst/>
            <a:rect r="r" b="b" t="t" l="l"/>
            <a:pathLst>
              <a:path h="345028" w="306964">
                <a:moveTo>
                  <a:pt x="0" y="0"/>
                </a:moveTo>
                <a:lnTo>
                  <a:pt x="306964" y="0"/>
                </a:lnTo>
                <a:lnTo>
                  <a:pt x="306964" y="345028"/>
                </a:lnTo>
                <a:lnTo>
                  <a:pt x="0" y="345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161212" y="5989374"/>
            <a:ext cx="5098088" cy="3347034"/>
            <a:chOff x="0" y="0"/>
            <a:chExt cx="1682742" cy="11047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2742" cy="1104766"/>
            </a:xfrm>
            <a:custGeom>
              <a:avLst/>
              <a:gdLst/>
              <a:ahLst/>
              <a:cxnLst/>
              <a:rect r="r" b="b" t="t" l="l"/>
              <a:pathLst>
                <a:path h="1104766" w="1682742">
                  <a:moveTo>
                    <a:pt x="30372" y="0"/>
                  </a:moveTo>
                  <a:lnTo>
                    <a:pt x="1652370" y="0"/>
                  </a:lnTo>
                  <a:cubicBezTo>
                    <a:pt x="1660425" y="0"/>
                    <a:pt x="1668150" y="3200"/>
                    <a:pt x="1673846" y="8896"/>
                  </a:cubicBezTo>
                  <a:cubicBezTo>
                    <a:pt x="1679542" y="14592"/>
                    <a:pt x="1682742" y="22317"/>
                    <a:pt x="1682742" y="30372"/>
                  </a:cubicBezTo>
                  <a:lnTo>
                    <a:pt x="1682742" y="1074394"/>
                  </a:lnTo>
                  <a:cubicBezTo>
                    <a:pt x="1682742" y="1082449"/>
                    <a:pt x="1679542" y="1090174"/>
                    <a:pt x="1673846" y="1095870"/>
                  </a:cubicBezTo>
                  <a:cubicBezTo>
                    <a:pt x="1668150" y="1101566"/>
                    <a:pt x="1660425" y="1104766"/>
                    <a:pt x="1652370" y="1104766"/>
                  </a:cubicBezTo>
                  <a:lnTo>
                    <a:pt x="30372" y="1104766"/>
                  </a:lnTo>
                  <a:cubicBezTo>
                    <a:pt x="22317" y="1104766"/>
                    <a:pt x="14592" y="1101566"/>
                    <a:pt x="8896" y="1095870"/>
                  </a:cubicBezTo>
                  <a:cubicBezTo>
                    <a:pt x="3200" y="1090174"/>
                    <a:pt x="0" y="1082449"/>
                    <a:pt x="0" y="1074394"/>
                  </a:cubicBezTo>
                  <a:lnTo>
                    <a:pt x="0" y="30372"/>
                  </a:lnTo>
                  <a:cubicBezTo>
                    <a:pt x="0" y="22317"/>
                    <a:pt x="3200" y="14592"/>
                    <a:pt x="8896" y="8896"/>
                  </a:cubicBezTo>
                  <a:cubicBezTo>
                    <a:pt x="14592" y="3200"/>
                    <a:pt x="22317" y="0"/>
                    <a:pt x="30372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FFFFFF">
                      <a:alpha val="80000"/>
                    </a:srgbClr>
                  </a:gs>
                  <a:gs pos="25000">
                    <a:srgbClr val="9B9A9A">
                      <a:alpha val="80000"/>
                    </a:srgbClr>
                  </a:gs>
                  <a:gs pos="50000">
                    <a:srgbClr val="FFFFFF">
                      <a:alpha val="80000"/>
                    </a:srgbClr>
                  </a:gs>
                  <a:gs pos="75000">
                    <a:srgbClr val="9C9B9B">
                      <a:alpha val="80000"/>
                    </a:srgbClr>
                  </a:gs>
                  <a:gs pos="100000">
                    <a:srgbClr val="FFFFFF">
                      <a:alpha val="8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682742" cy="1209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2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609830" y="6337036"/>
            <a:ext cx="306964" cy="345028"/>
          </a:xfrm>
          <a:custGeom>
            <a:avLst/>
            <a:gdLst/>
            <a:ahLst/>
            <a:cxnLst/>
            <a:rect r="r" b="b" t="t" l="l"/>
            <a:pathLst>
              <a:path h="345028" w="306964">
                <a:moveTo>
                  <a:pt x="0" y="0"/>
                </a:moveTo>
                <a:lnTo>
                  <a:pt x="306964" y="0"/>
                </a:lnTo>
                <a:lnTo>
                  <a:pt x="306964" y="345028"/>
                </a:lnTo>
                <a:lnTo>
                  <a:pt x="0" y="345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2451851"/>
            <a:ext cx="5098088" cy="3347034"/>
            <a:chOff x="0" y="0"/>
            <a:chExt cx="1682742" cy="11047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2742" cy="1104766"/>
            </a:xfrm>
            <a:custGeom>
              <a:avLst/>
              <a:gdLst/>
              <a:ahLst/>
              <a:cxnLst/>
              <a:rect r="r" b="b" t="t" l="l"/>
              <a:pathLst>
                <a:path h="1104766" w="1682742">
                  <a:moveTo>
                    <a:pt x="30372" y="0"/>
                  </a:moveTo>
                  <a:lnTo>
                    <a:pt x="1652370" y="0"/>
                  </a:lnTo>
                  <a:cubicBezTo>
                    <a:pt x="1660425" y="0"/>
                    <a:pt x="1668150" y="3200"/>
                    <a:pt x="1673846" y="8896"/>
                  </a:cubicBezTo>
                  <a:cubicBezTo>
                    <a:pt x="1679542" y="14592"/>
                    <a:pt x="1682742" y="22317"/>
                    <a:pt x="1682742" y="30372"/>
                  </a:cubicBezTo>
                  <a:lnTo>
                    <a:pt x="1682742" y="1074394"/>
                  </a:lnTo>
                  <a:cubicBezTo>
                    <a:pt x="1682742" y="1082449"/>
                    <a:pt x="1679542" y="1090174"/>
                    <a:pt x="1673846" y="1095870"/>
                  </a:cubicBezTo>
                  <a:cubicBezTo>
                    <a:pt x="1668150" y="1101566"/>
                    <a:pt x="1660425" y="1104766"/>
                    <a:pt x="1652370" y="1104766"/>
                  </a:cubicBezTo>
                  <a:lnTo>
                    <a:pt x="30372" y="1104766"/>
                  </a:lnTo>
                  <a:cubicBezTo>
                    <a:pt x="22317" y="1104766"/>
                    <a:pt x="14592" y="1101566"/>
                    <a:pt x="8896" y="1095870"/>
                  </a:cubicBezTo>
                  <a:cubicBezTo>
                    <a:pt x="3200" y="1090174"/>
                    <a:pt x="0" y="1082449"/>
                    <a:pt x="0" y="1074394"/>
                  </a:cubicBezTo>
                  <a:lnTo>
                    <a:pt x="0" y="30372"/>
                  </a:lnTo>
                  <a:cubicBezTo>
                    <a:pt x="0" y="22317"/>
                    <a:pt x="3200" y="14592"/>
                    <a:pt x="8896" y="8896"/>
                  </a:cubicBezTo>
                  <a:cubicBezTo>
                    <a:pt x="14592" y="3200"/>
                    <a:pt x="22317" y="0"/>
                    <a:pt x="30372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FFFFFF">
                      <a:alpha val="80000"/>
                    </a:srgbClr>
                  </a:gs>
                  <a:gs pos="25000">
                    <a:srgbClr val="9B9A9A">
                      <a:alpha val="80000"/>
                    </a:srgbClr>
                  </a:gs>
                  <a:gs pos="50000">
                    <a:srgbClr val="FFFFFF">
                      <a:alpha val="80000"/>
                    </a:srgbClr>
                  </a:gs>
                  <a:gs pos="75000">
                    <a:srgbClr val="9C9B9B">
                      <a:alpha val="80000"/>
                    </a:srgbClr>
                  </a:gs>
                  <a:gs pos="100000">
                    <a:srgbClr val="FFFFFF">
                      <a:alpha val="8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682742" cy="1209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2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77318" y="2862585"/>
            <a:ext cx="306964" cy="345028"/>
          </a:xfrm>
          <a:custGeom>
            <a:avLst/>
            <a:gdLst/>
            <a:ahLst/>
            <a:cxnLst/>
            <a:rect r="r" b="b" t="t" l="l"/>
            <a:pathLst>
              <a:path h="345028" w="306964">
                <a:moveTo>
                  <a:pt x="0" y="0"/>
                </a:moveTo>
                <a:lnTo>
                  <a:pt x="306965" y="0"/>
                </a:lnTo>
                <a:lnTo>
                  <a:pt x="306965" y="345028"/>
                </a:lnTo>
                <a:lnTo>
                  <a:pt x="0" y="345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28700" y="5989374"/>
            <a:ext cx="5098088" cy="3347034"/>
            <a:chOff x="0" y="0"/>
            <a:chExt cx="1682742" cy="11047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82742" cy="1104766"/>
            </a:xfrm>
            <a:custGeom>
              <a:avLst/>
              <a:gdLst/>
              <a:ahLst/>
              <a:cxnLst/>
              <a:rect r="r" b="b" t="t" l="l"/>
              <a:pathLst>
                <a:path h="1104766" w="1682742">
                  <a:moveTo>
                    <a:pt x="30372" y="0"/>
                  </a:moveTo>
                  <a:lnTo>
                    <a:pt x="1652370" y="0"/>
                  </a:lnTo>
                  <a:cubicBezTo>
                    <a:pt x="1660425" y="0"/>
                    <a:pt x="1668150" y="3200"/>
                    <a:pt x="1673846" y="8896"/>
                  </a:cubicBezTo>
                  <a:cubicBezTo>
                    <a:pt x="1679542" y="14592"/>
                    <a:pt x="1682742" y="22317"/>
                    <a:pt x="1682742" y="30372"/>
                  </a:cubicBezTo>
                  <a:lnTo>
                    <a:pt x="1682742" y="1074394"/>
                  </a:lnTo>
                  <a:cubicBezTo>
                    <a:pt x="1682742" y="1082449"/>
                    <a:pt x="1679542" y="1090174"/>
                    <a:pt x="1673846" y="1095870"/>
                  </a:cubicBezTo>
                  <a:cubicBezTo>
                    <a:pt x="1668150" y="1101566"/>
                    <a:pt x="1660425" y="1104766"/>
                    <a:pt x="1652370" y="1104766"/>
                  </a:cubicBezTo>
                  <a:lnTo>
                    <a:pt x="30372" y="1104766"/>
                  </a:lnTo>
                  <a:cubicBezTo>
                    <a:pt x="22317" y="1104766"/>
                    <a:pt x="14592" y="1101566"/>
                    <a:pt x="8896" y="1095870"/>
                  </a:cubicBezTo>
                  <a:cubicBezTo>
                    <a:pt x="3200" y="1090174"/>
                    <a:pt x="0" y="1082449"/>
                    <a:pt x="0" y="1074394"/>
                  </a:cubicBezTo>
                  <a:lnTo>
                    <a:pt x="0" y="30372"/>
                  </a:lnTo>
                  <a:cubicBezTo>
                    <a:pt x="0" y="22317"/>
                    <a:pt x="3200" y="14592"/>
                    <a:pt x="8896" y="8896"/>
                  </a:cubicBezTo>
                  <a:cubicBezTo>
                    <a:pt x="14592" y="3200"/>
                    <a:pt x="22317" y="0"/>
                    <a:pt x="30372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FFFFFF">
                      <a:alpha val="80000"/>
                    </a:srgbClr>
                  </a:gs>
                  <a:gs pos="25000">
                    <a:srgbClr val="9B9A9A">
                      <a:alpha val="80000"/>
                    </a:srgbClr>
                  </a:gs>
                  <a:gs pos="50000">
                    <a:srgbClr val="FFFFFF">
                      <a:alpha val="80000"/>
                    </a:srgbClr>
                  </a:gs>
                  <a:gs pos="75000">
                    <a:srgbClr val="9C9B9B">
                      <a:alpha val="80000"/>
                    </a:srgbClr>
                  </a:gs>
                  <a:gs pos="100000">
                    <a:srgbClr val="FFFFFF">
                      <a:alpha val="8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1682742" cy="1209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2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77318" y="6400107"/>
            <a:ext cx="306964" cy="345028"/>
          </a:xfrm>
          <a:custGeom>
            <a:avLst/>
            <a:gdLst/>
            <a:ahLst/>
            <a:cxnLst/>
            <a:rect r="r" b="b" t="t" l="l"/>
            <a:pathLst>
              <a:path h="345028" w="306964">
                <a:moveTo>
                  <a:pt x="0" y="0"/>
                </a:moveTo>
                <a:lnTo>
                  <a:pt x="306965" y="0"/>
                </a:lnTo>
                <a:lnTo>
                  <a:pt x="306965" y="345028"/>
                </a:lnTo>
                <a:lnTo>
                  <a:pt x="0" y="345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317288" y="2500152"/>
            <a:ext cx="5683816" cy="3346347"/>
          </a:xfrm>
          <a:custGeom>
            <a:avLst/>
            <a:gdLst/>
            <a:ahLst/>
            <a:cxnLst/>
            <a:rect r="r" b="b" t="t" l="l"/>
            <a:pathLst>
              <a:path h="3346347" w="5683816">
                <a:moveTo>
                  <a:pt x="0" y="0"/>
                </a:moveTo>
                <a:lnTo>
                  <a:pt x="5683816" y="0"/>
                </a:lnTo>
                <a:lnTo>
                  <a:pt x="5683816" y="3346347"/>
                </a:lnTo>
                <a:lnTo>
                  <a:pt x="0" y="33463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28531" y="896101"/>
            <a:ext cx="16430938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24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What Ac</a:t>
            </a:r>
            <a:r>
              <a:rPr lang="en-US" sz="6999" spc="-24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tually Drives Employee Attrition?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09830" y="3560499"/>
            <a:ext cx="4200852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Att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ritio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n: 237 / 1,470 (~16%)</a:t>
            </a:r>
          </a:p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arl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Tenure (0–5 ye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rs): ~200 exi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 (~18%)</a:t>
            </a:r>
          </a:p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Ov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rtime Attrition: ~30.5% vs ~10.4% (≈3× increase)</a:t>
            </a:r>
          </a:p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High-risk group: &lt;10% workforce driving a major share of exits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07294" y="2685214"/>
            <a:ext cx="3703387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Qu</a:t>
            </a:r>
            <a:r>
              <a:rPr lang="en-US" b="true" sz="2599" strike="noStrike" u="non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antified </a:t>
            </a:r>
            <a:r>
              <a:rPr lang="en-US" b="true" sz="2599" strike="noStrike" u="non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</a:t>
            </a:r>
            <a:r>
              <a:rPr lang="en-US" b="true" sz="2599" strike="noStrike" u="non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oncl</a:t>
            </a:r>
            <a:r>
              <a:rPr lang="en-US" b="true" sz="2599" strike="noStrike" u="non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usions: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09830" y="6825053"/>
            <a:ext cx="4200852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Reducing overtime exposure → attrition drops from ~16% to ~12–13%</a:t>
            </a:r>
          </a:p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Imp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rov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 income 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and work conditions → reduces attrition by ~10–15% within risk groups</a:t>
            </a:r>
          </a:p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Targeting ~130 high-risk empl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oyees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yields m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ximum impac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with minimal intervention scop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07294" y="6340640"/>
            <a:ext cx="3703387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Act</a:t>
            </a:r>
            <a:r>
              <a:rPr lang="en-US" b="true" sz="2599" strike="noStrike" u="non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iona</a:t>
            </a:r>
            <a:r>
              <a:rPr lang="en-US" b="true" sz="2599" strike="noStrike" u="non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</a:t>
            </a:r>
            <a:r>
              <a:rPr lang="en-US" b="true" sz="2599" strike="noStrike" u="non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 Impact: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7426" y="3693849"/>
            <a:ext cx="456063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Interactive filtering across department, role, and gende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 enables multi-dimensio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 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analysis without restructuring data</a:t>
            </a:r>
          </a:p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l-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identification of high-risk employee segments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74783" y="2866189"/>
            <a:ext cx="3703387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Dashboa</a:t>
            </a:r>
            <a:r>
              <a:rPr lang="en-US" b="true" sz="2599" strike="noStrike" u="non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rd Capa</a:t>
            </a:r>
            <a:r>
              <a:rPr lang="en-US" b="true" sz="2599" strike="noStrike" u="non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bi</a:t>
            </a:r>
            <a:r>
              <a:rPr lang="en-US" b="true" sz="2599" strike="noStrike" u="non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</a:t>
            </a:r>
            <a:r>
              <a:rPr lang="en-US" b="true" sz="2599" strike="noStrike" u="non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ity: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7426" y="7091753"/>
            <a:ext cx="4560637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Low Risk: ~58% (~850 employees)</a:t>
            </a:r>
          </a:p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Medium Risk: ~33% (~480 employees)</a:t>
            </a:r>
          </a:p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High Risk: ~9% (~130–140 employees)</a:t>
            </a:r>
          </a:p>
          <a:p>
            <a:pPr algn="l">
              <a:lnSpc>
                <a:spcPts val="2159"/>
              </a:lnSpc>
            </a:pP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High-risk g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up contributes disproportionately to tot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 at</a:t>
            </a:r>
            <a:r>
              <a:rPr lang="en-US" sz="17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trition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74783" y="6222736"/>
            <a:ext cx="3703387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Risk Segm</a:t>
            </a:r>
            <a:r>
              <a:rPr lang="en-US" b="true" sz="2599" strike="noStrike" u="non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entation </a:t>
            </a:r>
            <a:r>
              <a:rPr lang="en-US" b="true" sz="2599" strike="noStrike" u="non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Out</a:t>
            </a:r>
            <a:r>
              <a:rPr lang="en-US" b="true" sz="2599" strike="noStrike" u="non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</a:t>
            </a:r>
            <a:r>
              <a:rPr lang="en-US" b="true" sz="2599" strike="noStrike" u="non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ut: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73461" y="6517887"/>
            <a:ext cx="4098432" cy="2167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1"/>
              </a:lnSpc>
              <a:spcBef>
                <a:spcPct val="0"/>
              </a:spcBef>
            </a:pPr>
            <a:r>
              <a:rPr lang="en-US" b="true" sz="206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Attr</a:t>
            </a:r>
            <a:r>
              <a:rPr lang="en-US" b="true" sz="2065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ition is not random behavior; it is a predictable system driven by interacting variables and can be reduced through focused, data-driven decisions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C7257">
                <a:alpha val="100000"/>
              </a:srgbClr>
            </a:gs>
            <a:gs pos="50000">
              <a:srgbClr val="2F472C">
                <a:alpha val="100000"/>
              </a:srgbClr>
            </a:gs>
            <a:gs pos="100000">
              <a:srgbClr val="1F371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559930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409760" y="2688176"/>
            <a:ext cx="11758501" cy="340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spc="-42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Thank You for Your Time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19981"/>
            <a:ext cx="322553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By Rati Srivastava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344853"/>
            <a:ext cx="14768172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Related Data, Reports, Tableau: Dashboard Tutorial and explanation</a:t>
            </a:r>
          </a:p>
          <a:p>
            <a:pPr algn="l">
              <a:lnSpc>
                <a:spcPts val="2940"/>
              </a:lnSpc>
            </a:pPr>
            <a:r>
              <a:rPr lang="en-US" sz="21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2" tooltip="https://github.com/Rati-23/HR-Attrition-Analysis-Tableau"/>
              </a:rPr>
              <a:t>Git Hub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3" tooltip="https://drive.google.com/drive/folders/1XtYUdjDy0bPTSJ7f_QpNuiRbZfpPPFeY?usp=sharing"/>
              </a:rPr>
              <a:t>Google Drive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DAHHPj1anzw</dc:identifier>
  <dcterms:modified xsi:type="dcterms:W3CDTF">2011-08-01T06:04:30Z</dcterms:modified>
  <cp:revision>1</cp:revision>
  <dc:title>Quantitative Analysis of Employee Attrition Using Tableau</dc:title>
</cp:coreProperties>
</file>